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nva Sans" panose="020B0604020202020204" charset="0"/>
      <p:regular r:id="rId13"/>
    </p:embeddedFont>
    <p:embeddedFont>
      <p:font typeface="Canva Sans Bold" panose="020B0604020202020204" charset="0"/>
      <p:regular r:id="rId14"/>
    </p:embeddedFont>
    <p:embeddedFont>
      <p:font typeface="DG Jory" panose="020B0604020202020204" charset="-78"/>
      <p:regular r:id="rId15"/>
    </p:embeddedFont>
    <p:embeddedFont>
      <p:font typeface="DG Jory Bold" panose="020B0604020202020204" charset="-78"/>
      <p:regular r:id="rId16"/>
    </p:embeddedFont>
    <p:embeddedFont>
      <p:font typeface="League Spartan"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607933" y="59261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3680067" y="-2511057"/>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TextBox 6"/>
          <p:cNvSpPr txBox="1"/>
          <p:nvPr/>
        </p:nvSpPr>
        <p:spPr>
          <a:xfrm>
            <a:off x="4043841" y="3243263"/>
            <a:ext cx="10200318" cy="3800475"/>
          </a:xfrm>
          <a:prstGeom prst="rect">
            <a:avLst/>
          </a:prstGeom>
        </p:spPr>
        <p:txBody>
          <a:bodyPr lIns="0" tIns="0" rIns="0" bIns="0" rtlCol="0" anchor="t">
            <a:spAutoFit/>
          </a:bodyPr>
          <a:lstStyle/>
          <a:p>
            <a:pPr algn="ctr">
              <a:lnSpc>
                <a:spcPts val="10012"/>
              </a:lnSpc>
            </a:pPr>
            <a:r>
              <a:rPr lang="en-US" sz="8344">
                <a:solidFill>
                  <a:srgbClr val="000000"/>
                </a:solidFill>
                <a:latin typeface="League Spartan"/>
                <a:ea typeface="League Spartan"/>
                <a:cs typeface="League Spartan"/>
                <a:sym typeface="League Spartan"/>
              </a:rPr>
              <a:t>EMPLOYEE MANAGEMENT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3527667" y="-2358657"/>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3" name="Freeform 3"/>
          <p:cNvSpPr/>
          <p:nvPr/>
        </p:nvSpPr>
        <p:spPr>
          <a:xfrm flipH="1" flipV="1">
            <a:off x="14760333" y="-11093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3527667" y="50498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4760333" y="60785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grpSp>
        <p:nvGrpSpPr>
          <p:cNvPr id="6" name="Group 6"/>
          <p:cNvGrpSpPr/>
          <p:nvPr/>
        </p:nvGrpSpPr>
        <p:grpSpPr>
          <a:xfrm>
            <a:off x="6316150" y="1852601"/>
            <a:ext cx="5994124" cy="1773322"/>
            <a:chOff x="0" y="0"/>
            <a:chExt cx="2747400" cy="812800"/>
          </a:xfrm>
        </p:grpSpPr>
        <p:sp>
          <p:nvSpPr>
            <p:cNvPr id="7" name="Freeform 7"/>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8" name="TextBox 8"/>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6173966" y="1710417"/>
            <a:ext cx="5994124" cy="1773322"/>
            <a:chOff x="0" y="0"/>
            <a:chExt cx="2747400" cy="812800"/>
          </a:xfrm>
        </p:grpSpPr>
        <p:sp>
          <p:nvSpPr>
            <p:cNvPr id="10" name="Freeform 10"/>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11" name="TextBox 11"/>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6282526" y="2222779"/>
            <a:ext cx="6027748" cy="748614"/>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OUR TEAM</a:t>
            </a:r>
          </a:p>
        </p:txBody>
      </p:sp>
      <p:sp>
        <p:nvSpPr>
          <p:cNvPr id="13" name="TextBox 13"/>
          <p:cNvSpPr txBox="1"/>
          <p:nvPr/>
        </p:nvSpPr>
        <p:spPr>
          <a:xfrm>
            <a:off x="3804226" y="4507415"/>
            <a:ext cx="14483774" cy="2769989"/>
          </a:xfrm>
          <a:prstGeom prst="rect">
            <a:avLst/>
          </a:prstGeom>
        </p:spPr>
        <p:txBody>
          <a:bodyPr lIns="0" tIns="0" rIns="0" bIns="0" rtlCol="0" anchor="t">
            <a:spAutoFit/>
          </a:bodyPr>
          <a:lstStyle/>
          <a:p>
            <a:pPr marL="831828" lvl="1" indent="-415914" algn="l">
              <a:lnSpc>
                <a:spcPts val="5393"/>
              </a:lnSpc>
              <a:buFont typeface="Arial"/>
              <a:buChar char="•"/>
            </a:pPr>
            <a:r>
              <a:rPr lang="en-US" sz="3852" dirty="0">
                <a:solidFill>
                  <a:srgbClr val="000000"/>
                </a:solidFill>
                <a:latin typeface="DG Jory"/>
                <a:ea typeface="DG Jory"/>
                <a:cs typeface="DG Jory"/>
                <a:sym typeface="DG Jory"/>
              </a:rPr>
              <a:t>K . Reddy Jeswitha (111623102098)</a:t>
            </a:r>
          </a:p>
          <a:p>
            <a:pPr marL="831828" lvl="1" indent="-415914" algn="l">
              <a:lnSpc>
                <a:spcPts val="5393"/>
              </a:lnSpc>
              <a:buFont typeface="Arial"/>
              <a:buChar char="•"/>
            </a:pPr>
            <a:r>
              <a:rPr lang="en-US" sz="3852" dirty="0">
                <a:solidFill>
                  <a:srgbClr val="000000"/>
                </a:solidFill>
                <a:latin typeface="DG Jory"/>
                <a:ea typeface="DG Jory"/>
                <a:cs typeface="DG Jory"/>
                <a:sym typeface="DG Jory"/>
              </a:rPr>
              <a:t>B . Noshitha (111623102027)</a:t>
            </a:r>
          </a:p>
          <a:p>
            <a:pPr marL="831828" lvl="1" indent="-415914" algn="l">
              <a:lnSpc>
                <a:spcPts val="5393"/>
              </a:lnSpc>
              <a:buFont typeface="Arial"/>
              <a:buChar char="•"/>
            </a:pPr>
            <a:r>
              <a:rPr lang="en-US" sz="3852" dirty="0">
                <a:solidFill>
                  <a:srgbClr val="000000"/>
                </a:solidFill>
                <a:latin typeface="DG Jory"/>
                <a:ea typeface="DG Jory"/>
                <a:cs typeface="DG Jory"/>
                <a:sym typeface="DG Jory"/>
              </a:rPr>
              <a:t>M . Rishitha (111623102129)</a:t>
            </a:r>
          </a:p>
          <a:p>
            <a:pPr marL="415914" lvl="1" algn="l">
              <a:lnSpc>
                <a:spcPts val="5393"/>
              </a:lnSpc>
            </a:pPr>
            <a:endParaRPr lang="en-US" sz="3852" dirty="0">
              <a:solidFill>
                <a:srgbClr val="000000"/>
              </a:solidFill>
              <a:latin typeface="DG Jory"/>
              <a:ea typeface="DG Jory"/>
              <a:cs typeface="DG Jory"/>
              <a:sym typeface="DG Jory"/>
            </a:endParaRPr>
          </a:p>
        </p:txBody>
      </p:sp>
      <p:sp>
        <p:nvSpPr>
          <p:cNvPr id="14" name="TextBox 14"/>
          <p:cNvSpPr txBox="1"/>
          <p:nvPr/>
        </p:nvSpPr>
        <p:spPr>
          <a:xfrm>
            <a:off x="16946258" y="8457127"/>
            <a:ext cx="504137" cy="1208843"/>
          </a:xfrm>
          <a:prstGeom prst="rect">
            <a:avLst/>
          </a:prstGeom>
        </p:spPr>
        <p:txBody>
          <a:bodyPr wrap="none" lIns="0" tIns="0" rIns="0" bIns="0" rtlCol="0" anchor="t">
            <a:spAutoFit/>
          </a:bodyPr>
          <a:lstStyle/>
          <a:p>
            <a:pPr algn="ctr">
              <a:lnSpc>
                <a:spcPts val="9972"/>
              </a:lnSpc>
              <a:spcBef>
                <a:spcPct val="0"/>
              </a:spcBef>
            </a:pPr>
            <a:r>
              <a:rPr lang="en-US" sz="7122" b="1">
                <a:solidFill>
                  <a:srgbClr val="000000"/>
                </a:solidFill>
                <a:latin typeface="Canva Sans Bold"/>
                <a:ea typeface="Canva Sans Bold"/>
                <a:cs typeface="Canva Sans Bold"/>
                <a:sym typeface="Canva Sans Bold"/>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3530978" y="-2407245"/>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grpSp>
        <p:nvGrpSpPr>
          <p:cNvPr id="6" name="Group 6"/>
          <p:cNvGrpSpPr/>
          <p:nvPr/>
        </p:nvGrpSpPr>
        <p:grpSpPr>
          <a:xfrm>
            <a:off x="6021566" y="1558017"/>
            <a:ext cx="5994124" cy="1773322"/>
            <a:chOff x="0" y="0"/>
            <a:chExt cx="2747400" cy="812800"/>
          </a:xfrm>
        </p:grpSpPr>
        <p:sp>
          <p:nvSpPr>
            <p:cNvPr id="7" name="Freeform 7"/>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8" name="TextBox 8"/>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6163750" y="1700201"/>
            <a:ext cx="5994124" cy="1773322"/>
            <a:chOff x="0" y="0"/>
            <a:chExt cx="2747400" cy="812800"/>
          </a:xfrm>
        </p:grpSpPr>
        <p:sp>
          <p:nvSpPr>
            <p:cNvPr id="10" name="Freeform 10"/>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1" name="TextBox 11"/>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2568222" y="4180821"/>
            <a:ext cx="12900811" cy="2970995"/>
          </a:xfrm>
          <a:prstGeom prst="rect">
            <a:avLst/>
          </a:prstGeom>
        </p:spPr>
        <p:txBody>
          <a:bodyPr lIns="0" tIns="0" rIns="0" bIns="0" rtlCol="0" anchor="t">
            <a:spAutoFit/>
          </a:bodyPr>
          <a:lstStyle/>
          <a:p>
            <a:pPr algn="l">
              <a:lnSpc>
                <a:spcPts val="4727"/>
              </a:lnSpc>
            </a:pPr>
            <a:r>
              <a:rPr lang="en-US" sz="3376">
                <a:solidFill>
                  <a:srgbClr val="000000"/>
                </a:solidFill>
                <a:latin typeface="DG Jory"/>
                <a:ea typeface="DG Jory"/>
                <a:cs typeface="DG Jory"/>
                <a:sym typeface="DG Jory"/>
              </a:rPr>
              <a:t>The Employee Management System is a web-based solution designed to reduce manual work and streamline employee data handling in an organization. This system allows Admins and HR to manage employee details, attendance, and salary reports efficiently. It also includes data export features in PDF and Excel formats and visual analytics using charts. </a:t>
            </a:r>
          </a:p>
        </p:txBody>
      </p:sp>
      <p:sp>
        <p:nvSpPr>
          <p:cNvPr id="13" name="TextBox 13"/>
          <p:cNvSpPr txBox="1"/>
          <p:nvPr/>
        </p:nvSpPr>
        <p:spPr>
          <a:xfrm>
            <a:off x="6130126" y="2070379"/>
            <a:ext cx="6027748" cy="748598"/>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INTRODUCTION</a:t>
            </a:r>
          </a:p>
        </p:txBody>
      </p:sp>
      <p:sp>
        <p:nvSpPr>
          <p:cNvPr id="14" name="TextBox 14"/>
          <p:cNvSpPr txBox="1"/>
          <p:nvPr/>
        </p:nvSpPr>
        <p:spPr>
          <a:xfrm>
            <a:off x="17058559" y="8752106"/>
            <a:ext cx="348081" cy="807819"/>
          </a:xfrm>
          <a:prstGeom prst="rect">
            <a:avLst/>
          </a:prstGeom>
        </p:spPr>
        <p:txBody>
          <a:bodyPr wrap="none" lIns="0" tIns="0" rIns="0" bIns="0" rtlCol="0" anchor="t">
            <a:spAutoFit/>
          </a:bodyPr>
          <a:lstStyle/>
          <a:p>
            <a:pPr algn="ctr">
              <a:lnSpc>
                <a:spcPts val="6614"/>
              </a:lnSpc>
              <a:spcBef>
                <a:spcPct val="0"/>
              </a:spcBef>
            </a:pPr>
            <a:r>
              <a:rPr lang="en-US" sz="4724" b="1">
                <a:solidFill>
                  <a:srgbClr val="000000"/>
                </a:solidFill>
                <a:latin typeface="Canva Sans Bold"/>
                <a:ea typeface="Canva Sans Bold"/>
                <a:cs typeface="Canva Sans Bold"/>
                <a:sym typeface="Canva Sans Bold"/>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082137" y="-495020"/>
            <a:ext cx="9287959" cy="8409825"/>
          </a:xfrm>
          <a:custGeom>
            <a:avLst/>
            <a:gdLst/>
            <a:ahLst/>
            <a:cxnLst/>
            <a:rect l="l" t="t" r="r" b="b"/>
            <a:pathLst>
              <a:path w="9287959" h="8409825">
                <a:moveTo>
                  <a:pt x="9287960" y="8409824"/>
                </a:moveTo>
                <a:lnTo>
                  <a:pt x="0" y="8409824"/>
                </a:lnTo>
                <a:lnTo>
                  <a:pt x="0" y="0"/>
                </a:lnTo>
                <a:lnTo>
                  <a:pt x="9287960" y="0"/>
                </a:lnTo>
                <a:lnTo>
                  <a:pt x="9287960" y="8409824"/>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7933" y="8049787"/>
            <a:ext cx="7360133" cy="6664266"/>
          </a:xfrm>
          <a:custGeom>
            <a:avLst/>
            <a:gdLst/>
            <a:ahLst/>
            <a:cxnLst/>
            <a:rect l="l" t="t" r="r" b="b"/>
            <a:pathLst>
              <a:path w="7360133" h="6664266">
                <a:moveTo>
                  <a:pt x="0" y="0"/>
                </a:moveTo>
                <a:lnTo>
                  <a:pt x="7360134" y="0"/>
                </a:lnTo>
                <a:lnTo>
                  <a:pt x="7360134" y="6664267"/>
                </a:lnTo>
                <a:lnTo>
                  <a:pt x="0" y="6664267"/>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4" name="Freeform 4"/>
          <p:cNvSpPr/>
          <p:nvPr/>
        </p:nvSpPr>
        <p:spPr>
          <a:xfrm flipH="1">
            <a:off x="8303269" y="8738243"/>
            <a:ext cx="7360133" cy="6664266"/>
          </a:xfrm>
          <a:custGeom>
            <a:avLst/>
            <a:gdLst/>
            <a:ahLst/>
            <a:cxnLst/>
            <a:rect l="l" t="t" r="r" b="b"/>
            <a:pathLst>
              <a:path w="7360133" h="6664266">
                <a:moveTo>
                  <a:pt x="7360133" y="0"/>
                </a:moveTo>
                <a:lnTo>
                  <a:pt x="0" y="0"/>
                </a:lnTo>
                <a:lnTo>
                  <a:pt x="0" y="6664266"/>
                </a:lnTo>
                <a:lnTo>
                  <a:pt x="7360133" y="6664266"/>
                </a:lnTo>
                <a:lnTo>
                  <a:pt x="7360133"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grpSp>
        <p:nvGrpSpPr>
          <p:cNvPr id="5" name="Group 5"/>
          <p:cNvGrpSpPr/>
          <p:nvPr/>
        </p:nvGrpSpPr>
        <p:grpSpPr>
          <a:xfrm>
            <a:off x="1028700" y="1028700"/>
            <a:ext cx="5994124" cy="1773322"/>
            <a:chOff x="0" y="0"/>
            <a:chExt cx="2747400" cy="812800"/>
          </a:xfrm>
        </p:grpSpPr>
        <p:sp>
          <p:nvSpPr>
            <p:cNvPr id="6" name="Freeform 6"/>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7" name="TextBox 7"/>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170884" y="1170884"/>
            <a:ext cx="5994124" cy="1773322"/>
            <a:chOff x="0" y="0"/>
            <a:chExt cx="2747400" cy="812800"/>
          </a:xfrm>
        </p:grpSpPr>
        <p:sp>
          <p:nvSpPr>
            <p:cNvPr id="9" name="Freeform 9"/>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0" name="TextBox 10"/>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790236" y="3173018"/>
            <a:ext cx="12465177" cy="5221202"/>
          </a:xfrm>
          <a:prstGeom prst="rect">
            <a:avLst/>
          </a:prstGeom>
        </p:spPr>
        <p:txBody>
          <a:bodyPr lIns="0" tIns="0" rIns="0" bIns="0" rtlCol="0" anchor="t">
            <a:spAutoFit/>
          </a:bodyPr>
          <a:lstStyle/>
          <a:p>
            <a:pPr marL="715896" lvl="1" indent="-357948" algn="l">
              <a:lnSpc>
                <a:spcPts val="4642"/>
              </a:lnSpc>
              <a:buFont typeface="Arial"/>
              <a:buChar char="•"/>
            </a:pPr>
            <a:r>
              <a:rPr lang="en-US" sz="3315">
                <a:solidFill>
                  <a:srgbClr val="000000"/>
                </a:solidFill>
                <a:latin typeface="DG Jory"/>
                <a:ea typeface="DG Jory"/>
                <a:cs typeface="DG Jory"/>
                <a:sym typeface="DG Jory"/>
              </a:rPr>
              <a:t>To maintain accurate and up-to-date employee records in a centralized system.</a:t>
            </a:r>
          </a:p>
          <a:p>
            <a:pPr marL="715896" lvl="1" indent="-357948" algn="l">
              <a:lnSpc>
                <a:spcPts val="4642"/>
              </a:lnSpc>
              <a:buFont typeface="Arial"/>
              <a:buChar char="•"/>
            </a:pPr>
            <a:r>
              <a:rPr lang="en-US" sz="3315">
                <a:solidFill>
                  <a:srgbClr val="000000"/>
                </a:solidFill>
                <a:latin typeface="DG Jory"/>
                <a:ea typeface="DG Jory"/>
                <a:cs typeface="DG Jory"/>
                <a:sym typeface="DG Jory"/>
              </a:rPr>
              <a:t>To simplify HR tasks such as tracking attendance, salary, and leave details.</a:t>
            </a:r>
          </a:p>
          <a:p>
            <a:pPr marL="715896" lvl="1" indent="-357948" algn="l">
              <a:lnSpc>
                <a:spcPts val="4642"/>
              </a:lnSpc>
              <a:buFont typeface="Arial"/>
              <a:buChar char="•"/>
            </a:pPr>
            <a:r>
              <a:rPr lang="en-US" sz="3315">
                <a:solidFill>
                  <a:srgbClr val="000000"/>
                </a:solidFill>
                <a:latin typeface="DG Jory"/>
                <a:ea typeface="DG Jory"/>
                <a:cs typeface="DG Jory"/>
                <a:sym typeface="DG Jory"/>
              </a:rPr>
              <a:t>To reduce manual errors and paperwork through automation.</a:t>
            </a:r>
          </a:p>
          <a:p>
            <a:pPr marL="715896" lvl="1" indent="-357948" algn="l">
              <a:lnSpc>
                <a:spcPts val="4642"/>
              </a:lnSpc>
              <a:buFont typeface="Arial"/>
              <a:buChar char="•"/>
            </a:pPr>
            <a:r>
              <a:rPr lang="en-US" sz="3315">
                <a:solidFill>
                  <a:srgbClr val="000000"/>
                </a:solidFill>
                <a:latin typeface="DG Jory"/>
                <a:ea typeface="DG Jory"/>
                <a:cs typeface="DG Jory"/>
                <a:sym typeface="DG Jory"/>
              </a:rPr>
              <a:t>To improve data accessibility and management efficiency.</a:t>
            </a:r>
          </a:p>
          <a:p>
            <a:pPr marL="715896" lvl="1" indent="-357948" algn="l">
              <a:lnSpc>
                <a:spcPts val="4642"/>
              </a:lnSpc>
              <a:buFont typeface="Arial"/>
              <a:buChar char="•"/>
            </a:pPr>
            <a:r>
              <a:rPr lang="en-US" sz="3315">
                <a:solidFill>
                  <a:srgbClr val="000000"/>
                </a:solidFill>
                <a:latin typeface="DG Jory"/>
                <a:ea typeface="DG Jory"/>
                <a:cs typeface="DG Jory"/>
                <a:sym typeface="DG Jory"/>
              </a:rPr>
              <a:t>To generate reports for quick decision-making and analysis.</a:t>
            </a:r>
          </a:p>
          <a:p>
            <a:pPr marL="715896" lvl="1" indent="-357948" algn="l">
              <a:lnSpc>
                <a:spcPts val="4642"/>
              </a:lnSpc>
              <a:buFont typeface="Arial"/>
              <a:buChar char="•"/>
            </a:pPr>
            <a:r>
              <a:rPr lang="en-US" sz="3315">
                <a:solidFill>
                  <a:srgbClr val="000000"/>
                </a:solidFill>
                <a:latin typeface="DG Jory"/>
                <a:ea typeface="DG Jory"/>
                <a:cs typeface="DG Jory"/>
                <a:sym typeface="DG Jory"/>
              </a:rPr>
              <a:t>To provide secure access to employee information based on roles.</a:t>
            </a:r>
          </a:p>
          <a:p>
            <a:pPr algn="l">
              <a:lnSpc>
                <a:spcPts val="4642"/>
              </a:lnSpc>
            </a:pPr>
            <a:endParaRPr lang="en-US" sz="3315">
              <a:solidFill>
                <a:srgbClr val="000000"/>
              </a:solidFill>
              <a:latin typeface="DG Jory"/>
              <a:ea typeface="DG Jory"/>
              <a:cs typeface="DG Jory"/>
              <a:sym typeface="DG Jory"/>
            </a:endParaRPr>
          </a:p>
        </p:txBody>
      </p:sp>
      <p:sp>
        <p:nvSpPr>
          <p:cNvPr id="12" name="TextBox 12"/>
          <p:cNvSpPr txBox="1"/>
          <p:nvPr/>
        </p:nvSpPr>
        <p:spPr>
          <a:xfrm>
            <a:off x="1137260" y="1541062"/>
            <a:ext cx="6027748" cy="748614"/>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OBJECTIVE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58888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3530978" y="-2407245"/>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TextBox 6"/>
          <p:cNvSpPr txBox="1"/>
          <p:nvPr/>
        </p:nvSpPr>
        <p:spPr>
          <a:xfrm>
            <a:off x="2970953" y="2745525"/>
            <a:ext cx="13051576" cy="661658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Python:  Main programming language for building the logic of the web applications.</a:t>
            </a:r>
          </a:p>
          <a:p>
            <a:pPr marL="675648" lvl="1" indent="-337824" algn="l">
              <a:lnSpc>
                <a:spcPts val="4381"/>
              </a:lnSpc>
              <a:buFont typeface="Arial"/>
              <a:buChar char="•"/>
            </a:pPr>
            <a:r>
              <a:rPr lang="en-US" sz="3129">
                <a:solidFill>
                  <a:srgbClr val="000000"/>
                </a:solidFill>
                <a:latin typeface="DG Jory"/>
                <a:ea typeface="DG Jory"/>
                <a:cs typeface="DG Jory"/>
                <a:sym typeface="DG Jory"/>
              </a:rPr>
              <a:t>Flask : A lightweight web framework used to create the routes, manage sessions and serve HTML templates.</a:t>
            </a:r>
          </a:p>
          <a:p>
            <a:pPr marL="675648" lvl="1" indent="-337824" algn="l">
              <a:lnSpc>
                <a:spcPts val="4381"/>
              </a:lnSpc>
              <a:buFont typeface="Arial"/>
              <a:buChar char="•"/>
            </a:pPr>
            <a:r>
              <a:rPr lang="en-US" sz="3129">
                <a:solidFill>
                  <a:srgbClr val="000000"/>
                </a:solidFill>
                <a:latin typeface="DG Jory"/>
                <a:ea typeface="DG Jory"/>
                <a:cs typeface="DG Jory"/>
                <a:sym typeface="DG Jory"/>
              </a:rPr>
              <a:t>MySQL :  The relational databases to store user information , employee records , attendance , and salary details.</a:t>
            </a:r>
          </a:p>
          <a:p>
            <a:pPr marL="675648" lvl="1" indent="-337824" algn="l">
              <a:lnSpc>
                <a:spcPts val="4381"/>
              </a:lnSpc>
              <a:buFont typeface="Arial"/>
              <a:buChar char="•"/>
            </a:pPr>
            <a:r>
              <a:rPr lang="en-US" sz="3129">
                <a:solidFill>
                  <a:srgbClr val="000000"/>
                </a:solidFill>
                <a:latin typeface="DG Jory"/>
                <a:ea typeface="DG Jory"/>
                <a:cs typeface="DG Jory"/>
                <a:sym typeface="DG Jory"/>
              </a:rPr>
              <a:t>Pandas :  Handling and exporting tabular data to Excel format.</a:t>
            </a:r>
          </a:p>
          <a:p>
            <a:pPr marL="675648" lvl="1" indent="-337824" algn="l">
              <a:lnSpc>
                <a:spcPts val="4381"/>
              </a:lnSpc>
              <a:buFont typeface="Arial"/>
              <a:buChar char="•"/>
            </a:pPr>
            <a:r>
              <a:rPr lang="en-US" sz="3129">
                <a:solidFill>
                  <a:srgbClr val="000000"/>
                </a:solidFill>
                <a:latin typeface="DG Jory"/>
                <a:ea typeface="DG Jory"/>
                <a:cs typeface="DG Jory"/>
                <a:sym typeface="DG Jory"/>
              </a:rPr>
              <a:t>Matplotlib :  Creating salary charts based on employee salary data.</a:t>
            </a:r>
          </a:p>
          <a:p>
            <a:pPr marL="675648" lvl="1" indent="-337824" algn="l">
              <a:lnSpc>
                <a:spcPts val="4381"/>
              </a:lnSpc>
              <a:buFont typeface="Arial"/>
              <a:buChar char="•"/>
            </a:pPr>
            <a:r>
              <a:rPr lang="en-US" sz="3129">
                <a:solidFill>
                  <a:srgbClr val="000000"/>
                </a:solidFill>
                <a:latin typeface="DG Jory"/>
                <a:ea typeface="DG Jory"/>
                <a:cs typeface="DG Jory"/>
                <a:sym typeface="DG Jory"/>
              </a:rPr>
              <a:t>Reportlab :  Generate employee reports in PDF  format.</a:t>
            </a:r>
          </a:p>
          <a:p>
            <a:pPr marL="675648" lvl="1" indent="-337824" algn="l">
              <a:lnSpc>
                <a:spcPts val="4381"/>
              </a:lnSpc>
              <a:buFont typeface="Arial"/>
              <a:buChar char="•"/>
            </a:pPr>
            <a:r>
              <a:rPr lang="en-US" sz="3129">
                <a:solidFill>
                  <a:srgbClr val="000000"/>
                </a:solidFill>
                <a:latin typeface="DG Jory"/>
                <a:ea typeface="DG Jory"/>
                <a:cs typeface="DG Jory"/>
                <a:sym typeface="DG Jory"/>
              </a:rPr>
              <a:t>HTML/CSS(templates) : Design user interfaces like login page , dashboard , and attendance, </a:t>
            </a:r>
          </a:p>
          <a:p>
            <a:pPr algn="l">
              <a:lnSpc>
                <a:spcPts val="4381"/>
              </a:lnSpc>
            </a:pPr>
            <a:r>
              <a:rPr lang="en-US" sz="3129">
                <a:solidFill>
                  <a:srgbClr val="000000"/>
                </a:solidFill>
                <a:latin typeface="DG Jory"/>
                <a:ea typeface="DG Jory"/>
                <a:cs typeface="DG Jory"/>
                <a:sym typeface="DG Jory"/>
              </a:rPr>
              <a:t>.</a:t>
            </a:r>
          </a:p>
        </p:txBody>
      </p:sp>
      <p:grpSp>
        <p:nvGrpSpPr>
          <p:cNvPr id="7" name="Group 7"/>
          <p:cNvGrpSpPr/>
          <p:nvPr/>
        </p:nvGrpSpPr>
        <p:grpSpPr>
          <a:xfrm>
            <a:off x="5124259" y="501204"/>
            <a:ext cx="9060274" cy="1915506"/>
            <a:chOff x="0" y="0"/>
            <a:chExt cx="3844515" cy="812800"/>
          </a:xfrm>
        </p:grpSpPr>
        <p:sp>
          <p:nvSpPr>
            <p:cNvPr id="8" name="Freeform 8"/>
            <p:cNvSpPr/>
            <p:nvPr/>
          </p:nvSpPr>
          <p:spPr>
            <a:xfrm>
              <a:off x="0" y="0"/>
              <a:ext cx="3844515" cy="812800"/>
            </a:xfrm>
            <a:custGeom>
              <a:avLst/>
              <a:gdLst/>
              <a:ahLst/>
              <a:cxnLst/>
              <a:rect l="l" t="t" r="r" b="b"/>
              <a:pathLst>
                <a:path w="3844515" h="812800">
                  <a:moveTo>
                    <a:pt x="3844515" y="0"/>
                  </a:moveTo>
                  <a:lnTo>
                    <a:pt x="0" y="0"/>
                  </a:lnTo>
                  <a:lnTo>
                    <a:pt x="0" y="624840"/>
                  </a:lnTo>
                  <a:lnTo>
                    <a:pt x="157480" y="624840"/>
                  </a:lnTo>
                  <a:lnTo>
                    <a:pt x="157480" y="812800"/>
                  </a:lnTo>
                  <a:lnTo>
                    <a:pt x="463550" y="624840"/>
                  </a:lnTo>
                  <a:lnTo>
                    <a:pt x="3844515" y="624840"/>
                  </a:lnTo>
                  <a:lnTo>
                    <a:pt x="3844515" y="0"/>
                  </a:lnTo>
                  <a:close/>
                </a:path>
              </a:pathLst>
            </a:custGeom>
            <a:solidFill>
              <a:srgbClr val="9BDAE9"/>
            </a:solidFill>
            <a:ln cap="sq">
              <a:noFill/>
              <a:prstDash val="solid"/>
              <a:miter/>
            </a:ln>
          </p:spPr>
        </p:sp>
        <p:sp>
          <p:nvSpPr>
            <p:cNvPr id="9" name="TextBox 9"/>
            <p:cNvSpPr txBox="1"/>
            <p:nvPr/>
          </p:nvSpPr>
          <p:spPr>
            <a:xfrm>
              <a:off x="0" y="-47625"/>
              <a:ext cx="3844515" cy="66992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5408038" y="736909"/>
            <a:ext cx="9003123" cy="1926583"/>
            <a:chOff x="0" y="0"/>
            <a:chExt cx="3798300" cy="812800"/>
          </a:xfrm>
        </p:grpSpPr>
        <p:sp>
          <p:nvSpPr>
            <p:cNvPr id="11" name="Freeform 11"/>
            <p:cNvSpPr/>
            <p:nvPr/>
          </p:nvSpPr>
          <p:spPr>
            <a:xfrm>
              <a:off x="0" y="0"/>
              <a:ext cx="3798300" cy="812800"/>
            </a:xfrm>
            <a:custGeom>
              <a:avLst/>
              <a:gdLst/>
              <a:ahLst/>
              <a:cxnLst/>
              <a:rect l="l" t="t" r="r" b="b"/>
              <a:pathLst>
                <a:path w="3798300" h="812800">
                  <a:moveTo>
                    <a:pt x="3798300" y="0"/>
                  </a:moveTo>
                  <a:lnTo>
                    <a:pt x="0" y="0"/>
                  </a:lnTo>
                  <a:lnTo>
                    <a:pt x="0" y="624840"/>
                  </a:lnTo>
                  <a:lnTo>
                    <a:pt x="157480" y="624840"/>
                  </a:lnTo>
                  <a:lnTo>
                    <a:pt x="157480" y="812800"/>
                  </a:lnTo>
                  <a:lnTo>
                    <a:pt x="463550" y="624840"/>
                  </a:lnTo>
                  <a:lnTo>
                    <a:pt x="3798300" y="624840"/>
                  </a:lnTo>
                  <a:lnTo>
                    <a:pt x="3798300" y="0"/>
                  </a:lnTo>
                  <a:close/>
                </a:path>
              </a:pathLst>
            </a:custGeom>
            <a:solidFill>
              <a:srgbClr val="000000">
                <a:alpha val="0"/>
              </a:srgbClr>
            </a:solidFill>
            <a:ln w="66675" cap="sq">
              <a:solidFill>
                <a:srgbClr val="56C3D0"/>
              </a:solidFill>
              <a:prstDash val="solid"/>
              <a:miter/>
            </a:ln>
          </p:spPr>
        </p:sp>
        <p:sp>
          <p:nvSpPr>
            <p:cNvPr id="12" name="TextBox 12"/>
            <p:cNvSpPr txBox="1"/>
            <p:nvPr/>
          </p:nvSpPr>
          <p:spPr>
            <a:xfrm>
              <a:off x="0" y="-47625"/>
              <a:ext cx="3798300" cy="6699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6044558" y="1028700"/>
            <a:ext cx="8139975" cy="716510"/>
          </a:xfrm>
          <a:prstGeom prst="rect">
            <a:avLst/>
          </a:prstGeom>
        </p:spPr>
        <p:txBody>
          <a:bodyPr lIns="0" tIns="0" rIns="0" bIns="0" rtlCol="0" anchor="t">
            <a:spAutoFit/>
          </a:bodyPr>
          <a:lstStyle/>
          <a:p>
            <a:pPr algn="ctr">
              <a:lnSpc>
                <a:spcPts val="5663"/>
              </a:lnSpc>
            </a:pPr>
            <a:r>
              <a:rPr lang="en-US" sz="4719">
                <a:solidFill>
                  <a:srgbClr val="000000"/>
                </a:solidFill>
                <a:latin typeface="League Spartan"/>
                <a:ea typeface="League Spartan"/>
                <a:cs typeface="League Spartan"/>
                <a:sym typeface="League Spartan"/>
              </a:rPr>
              <a:t>TOOLS &amp; TECHNOLOGIES</a:t>
            </a:r>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4058439" y="5273556"/>
            <a:ext cx="7360133" cy="6664266"/>
          </a:xfrm>
          <a:custGeom>
            <a:avLst/>
            <a:gdLst/>
            <a:ahLst/>
            <a:cxnLst/>
            <a:rect l="l" t="t" r="r" b="b"/>
            <a:pathLst>
              <a:path w="7360133" h="6664266">
                <a:moveTo>
                  <a:pt x="0" y="0"/>
                </a:moveTo>
                <a:lnTo>
                  <a:pt x="7360133" y="0"/>
                </a:lnTo>
                <a:lnTo>
                  <a:pt x="7360133" y="6664267"/>
                </a:lnTo>
                <a:lnTo>
                  <a:pt x="0" y="666426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5086254" y="-1764270"/>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6053606" y="69548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4058439" y="-2688831"/>
            <a:ext cx="7360133" cy="6664266"/>
          </a:xfrm>
          <a:custGeom>
            <a:avLst/>
            <a:gdLst/>
            <a:ahLst/>
            <a:cxnLst/>
            <a:rect l="l" t="t" r="r" b="b"/>
            <a:pathLst>
              <a:path w="7360133" h="6664266">
                <a:moveTo>
                  <a:pt x="7360133" y="6664266"/>
                </a:moveTo>
                <a:lnTo>
                  <a:pt x="0" y="6664266"/>
                </a:lnTo>
                <a:lnTo>
                  <a:pt x="0" y="0"/>
                </a:lnTo>
                <a:lnTo>
                  <a:pt x="7360133" y="0"/>
                </a:lnTo>
                <a:lnTo>
                  <a:pt x="7360133"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TextBox 6"/>
          <p:cNvSpPr txBox="1"/>
          <p:nvPr/>
        </p:nvSpPr>
        <p:spPr>
          <a:xfrm>
            <a:off x="6021566" y="2814685"/>
            <a:ext cx="9064688" cy="580482"/>
          </a:xfrm>
          <a:prstGeom prst="rect">
            <a:avLst/>
          </a:prstGeom>
        </p:spPr>
        <p:txBody>
          <a:bodyPr lIns="0" tIns="0" rIns="0" bIns="0" rtlCol="0" anchor="t">
            <a:spAutoFit/>
          </a:bodyPr>
          <a:lstStyle/>
          <a:p>
            <a:pPr algn="l">
              <a:lnSpc>
                <a:spcPts val="4671"/>
              </a:lnSpc>
            </a:pPr>
            <a:r>
              <a:rPr lang="en-US" sz="3336">
                <a:solidFill>
                  <a:srgbClr val="000000"/>
                </a:solidFill>
                <a:latin typeface="DG Jory"/>
                <a:ea typeface="DG Jory"/>
                <a:cs typeface="DG Jory"/>
                <a:sym typeface="DG Jory"/>
              </a:rPr>
              <a:t> Database name : employee_db</a:t>
            </a:r>
          </a:p>
        </p:txBody>
      </p:sp>
      <p:grpSp>
        <p:nvGrpSpPr>
          <p:cNvPr id="7" name="Group 7"/>
          <p:cNvGrpSpPr/>
          <p:nvPr/>
        </p:nvGrpSpPr>
        <p:grpSpPr>
          <a:xfrm>
            <a:off x="6021566" y="551449"/>
            <a:ext cx="6871300" cy="2032828"/>
            <a:chOff x="0" y="0"/>
            <a:chExt cx="2747400" cy="812800"/>
          </a:xfrm>
        </p:grpSpPr>
        <p:sp>
          <p:nvSpPr>
            <p:cNvPr id="8" name="Freeform 8"/>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9" name="TextBox 9"/>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031091" y="705014"/>
            <a:ext cx="6937864" cy="2052521"/>
            <a:chOff x="0" y="0"/>
            <a:chExt cx="2747400" cy="812800"/>
          </a:xfrm>
        </p:grpSpPr>
        <p:sp>
          <p:nvSpPr>
            <p:cNvPr id="11" name="Freeform 11"/>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2" name="TextBox 12"/>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6226812" y="956024"/>
            <a:ext cx="6315106" cy="713538"/>
          </a:xfrm>
          <a:prstGeom prst="rect">
            <a:avLst/>
          </a:prstGeom>
        </p:spPr>
        <p:txBody>
          <a:bodyPr lIns="0" tIns="0" rIns="0" bIns="0" rtlCol="0" anchor="t">
            <a:spAutoFit/>
          </a:bodyPr>
          <a:lstStyle/>
          <a:p>
            <a:pPr algn="ctr">
              <a:lnSpc>
                <a:spcPts val="5639"/>
              </a:lnSpc>
            </a:pPr>
            <a:r>
              <a:rPr lang="en-US" sz="4699">
                <a:solidFill>
                  <a:srgbClr val="000000"/>
                </a:solidFill>
                <a:latin typeface="League Spartan"/>
                <a:ea typeface="League Spartan"/>
                <a:cs typeface="League Spartan"/>
                <a:sym typeface="League Spartan"/>
              </a:rPr>
              <a:t>DATABASE DESIGN</a:t>
            </a:r>
          </a:p>
        </p:txBody>
      </p:sp>
      <p:sp>
        <p:nvSpPr>
          <p:cNvPr id="14" name="AutoShape 14"/>
          <p:cNvSpPr/>
          <p:nvPr/>
        </p:nvSpPr>
        <p:spPr>
          <a:xfrm>
            <a:off x="9144000" y="3395167"/>
            <a:ext cx="0" cy="1748333"/>
          </a:xfrm>
          <a:prstGeom prst="line">
            <a:avLst/>
          </a:prstGeom>
          <a:ln w="38100" cap="flat">
            <a:solidFill>
              <a:srgbClr val="000000"/>
            </a:solidFill>
            <a:prstDash val="solid"/>
            <a:headEnd type="none" w="sm" len="sm"/>
            <a:tailEnd type="none" w="sm" len="sm"/>
          </a:ln>
        </p:spPr>
      </p:sp>
      <p:sp>
        <p:nvSpPr>
          <p:cNvPr id="15" name="AutoShape 15"/>
          <p:cNvSpPr/>
          <p:nvPr/>
        </p:nvSpPr>
        <p:spPr>
          <a:xfrm flipV="1">
            <a:off x="4685643" y="4276071"/>
            <a:ext cx="4542046" cy="867429"/>
          </a:xfrm>
          <a:prstGeom prst="line">
            <a:avLst/>
          </a:prstGeom>
          <a:ln w="38100" cap="flat">
            <a:solidFill>
              <a:srgbClr val="000000"/>
            </a:solidFill>
            <a:prstDash val="solid"/>
            <a:headEnd type="none" w="sm" len="sm"/>
            <a:tailEnd type="none" w="sm" len="sm"/>
          </a:ln>
        </p:spPr>
      </p:sp>
      <p:sp>
        <p:nvSpPr>
          <p:cNvPr id="16" name="AutoShape 16"/>
          <p:cNvSpPr/>
          <p:nvPr/>
        </p:nvSpPr>
        <p:spPr>
          <a:xfrm>
            <a:off x="9144000" y="4276071"/>
            <a:ext cx="4627455" cy="867429"/>
          </a:xfrm>
          <a:prstGeom prst="line">
            <a:avLst/>
          </a:prstGeom>
          <a:ln w="38100" cap="flat">
            <a:solidFill>
              <a:srgbClr val="000000"/>
            </a:solidFill>
            <a:prstDash val="solid"/>
            <a:headEnd type="none" w="sm" len="sm"/>
            <a:tailEnd type="none" w="sm" len="sm"/>
          </a:ln>
        </p:spPr>
      </p:sp>
      <p:sp>
        <p:nvSpPr>
          <p:cNvPr id="17" name="TextBox 17"/>
          <p:cNvSpPr txBox="1"/>
          <p:nvPr/>
        </p:nvSpPr>
        <p:spPr>
          <a:xfrm>
            <a:off x="3509009" y="5197356"/>
            <a:ext cx="2717802" cy="1169515"/>
          </a:xfrm>
          <a:prstGeom prst="rect">
            <a:avLst/>
          </a:prstGeom>
        </p:spPr>
        <p:txBody>
          <a:bodyPr lIns="0" tIns="0" rIns="0" bIns="0" rtlCol="0" anchor="t">
            <a:spAutoFit/>
          </a:bodyPr>
          <a:lstStyle/>
          <a:p>
            <a:pPr algn="l">
              <a:lnSpc>
                <a:spcPts val="4671"/>
              </a:lnSpc>
            </a:pPr>
            <a:r>
              <a:rPr lang="en-US" sz="3336">
                <a:solidFill>
                  <a:srgbClr val="000000"/>
                </a:solidFill>
                <a:latin typeface="DG Jory"/>
                <a:ea typeface="DG Jory"/>
                <a:cs typeface="DG Jory"/>
                <a:sym typeface="DG Jory"/>
              </a:rPr>
              <a:t>Table  : Users</a:t>
            </a:r>
          </a:p>
          <a:p>
            <a:pPr algn="l">
              <a:lnSpc>
                <a:spcPts val="4671"/>
              </a:lnSpc>
            </a:pPr>
            <a:r>
              <a:rPr lang="en-US" sz="3336">
                <a:solidFill>
                  <a:srgbClr val="000000"/>
                </a:solidFill>
                <a:latin typeface="DG Jory"/>
                <a:ea typeface="DG Jory"/>
                <a:cs typeface="DG Jory"/>
                <a:sym typeface="DG Jory"/>
              </a:rPr>
              <a:t>Columns :</a:t>
            </a:r>
          </a:p>
        </p:txBody>
      </p:sp>
      <p:sp>
        <p:nvSpPr>
          <p:cNvPr id="18" name="TextBox 18"/>
          <p:cNvSpPr txBox="1"/>
          <p:nvPr/>
        </p:nvSpPr>
        <p:spPr>
          <a:xfrm>
            <a:off x="8075572" y="5197356"/>
            <a:ext cx="3218600" cy="1169515"/>
          </a:xfrm>
          <a:prstGeom prst="rect">
            <a:avLst/>
          </a:prstGeom>
        </p:spPr>
        <p:txBody>
          <a:bodyPr lIns="0" tIns="0" rIns="0" bIns="0" rtlCol="0" anchor="t">
            <a:spAutoFit/>
          </a:bodyPr>
          <a:lstStyle/>
          <a:p>
            <a:pPr algn="l">
              <a:lnSpc>
                <a:spcPts val="4671"/>
              </a:lnSpc>
            </a:pPr>
            <a:r>
              <a:rPr lang="en-US" sz="3336">
                <a:solidFill>
                  <a:srgbClr val="000000"/>
                </a:solidFill>
                <a:latin typeface="DG Jory"/>
                <a:ea typeface="DG Jory"/>
                <a:cs typeface="DG Jory"/>
                <a:sym typeface="DG Jory"/>
              </a:rPr>
              <a:t>Table : Employees</a:t>
            </a:r>
          </a:p>
          <a:p>
            <a:pPr algn="l">
              <a:lnSpc>
                <a:spcPts val="4671"/>
              </a:lnSpc>
            </a:pPr>
            <a:r>
              <a:rPr lang="en-US" sz="3336">
                <a:solidFill>
                  <a:srgbClr val="000000"/>
                </a:solidFill>
                <a:latin typeface="DG Jory"/>
                <a:ea typeface="DG Jory"/>
                <a:cs typeface="DG Jory"/>
                <a:sym typeface="DG Jory"/>
              </a:rPr>
              <a:t>Columns :</a:t>
            </a:r>
          </a:p>
        </p:txBody>
      </p:sp>
      <p:sp>
        <p:nvSpPr>
          <p:cNvPr id="19" name="TextBox 19"/>
          <p:cNvSpPr txBox="1"/>
          <p:nvPr/>
        </p:nvSpPr>
        <p:spPr>
          <a:xfrm>
            <a:off x="12541917" y="5258399"/>
            <a:ext cx="3550442" cy="1169515"/>
          </a:xfrm>
          <a:prstGeom prst="rect">
            <a:avLst/>
          </a:prstGeom>
        </p:spPr>
        <p:txBody>
          <a:bodyPr lIns="0" tIns="0" rIns="0" bIns="0" rtlCol="0" anchor="t">
            <a:spAutoFit/>
          </a:bodyPr>
          <a:lstStyle/>
          <a:p>
            <a:pPr algn="l">
              <a:lnSpc>
                <a:spcPts val="4671"/>
              </a:lnSpc>
            </a:pPr>
            <a:r>
              <a:rPr lang="en-US" sz="3336">
                <a:solidFill>
                  <a:srgbClr val="000000"/>
                </a:solidFill>
                <a:latin typeface="DG Jory"/>
                <a:ea typeface="DG Jory"/>
                <a:cs typeface="DG Jory"/>
                <a:sym typeface="DG Jory"/>
              </a:rPr>
              <a:t>Table : Attendance</a:t>
            </a:r>
          </a:p>
          <a:p>
            <a:pPr algn="l">
              <a:lnSpc>
                <a:spcPts val="4671"/>
              </a:lnSpc>
            </a:pPr>
            <a:r>
              <a:rPr lang="en-US" sz="3336">
                <a:solidFill>
                  <a:srgbClr val="000000"/>
                </a:solidFill>
                <a:latin typeface="DG Jory"/>
                <a:ea typeface="DG Jory"/>
                <a:cs typeface="DG Jory"/>
                <a:sym typeface="DG Jory"/>
              </a:rPr>
              <a:t>Columns : </a:t>
            </a:r>
          </a:p>
        </p:txBody>
      </p:sp>
      <p:sp>
        <p:nvSpPr>
          <p:cNvPr id="20" name="TextBox 20"/>
          <p:cNvSpPr txBox="1"/>
          <p:nvPr/>
        </p:nvSpPr>
        <p:spPr>
          <a:xfrm>
            <a:off x="2744767" y="6433547"/>
            <a:ext cx="4827372" cy="219698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id :INT, PRIMARY KEY</a:t>
            </a:r>
          </a:p>
          <a:p>
            <a:pPr marL="675648" lvl="1" indent="-337824" algn="l">
              <a:lnSpc>
                <a:spcPts val="4381"/>
              </a:lnSpc>
              <a:buFont typeface="Arial"/>
              <a:buChar char="•"/>
            </a:pPr>
            <a:r>
              <a:rPr lang="en-US" sz="3129">
                <a:solidFill>
                  <a:srgbClr val="000000"/>
                </a:solidFill>
                <a:latin typeface="DG Jory"/>
                <a:ea typeface="DG Jory"/>
                <a:cs typeface="DG Jory"/>
                <a:sym typeface="DG Jory"/>
              </a:rPr>
              <a:t>username : VARCHAR</a:t>
            </a:r>
          </a:p>
          <a:p>
            <a:pPr marL="675648" lvl="1" indent="-337824" algn="l">
              <a:lnSpc>
                <a:spcPts val="4381"/>
              </a:lnSpc>
              <a:buFont typeface="Arial"/>
              <a:buChar char="•"/>
            </a:pPr>
            <a:r>
              <a:rPr lang="en-US" sz="3129">
                <a:solidFill>
                  <a:srgbClr val="000000"/>
                </a:solidFill>
                <a:latin typeface="DG Jory"/>
                <a:ea typeface="DG Jory"/>
                <a:cs typeface="DG Jory"/>
                <a:sym typeface="DG Jory"/>
              </a:rPr>
              <a:t>password : VARCHAR</a:t>
            </a:r>
          </a:p>
          <a:p>
            <a:pPr marL="675648" lvl="1" indent="-337824" algn="l">
              <a:lnSpc>
                <a:spcPts val="4381"/>
              </a:lnSpc>
              <a:buFont typeface="Arial"/>
              <a:buChar char="•"/>
            </a:pPr>
            <a:r>
              <a:rPr lang="en-US" sz="3129">
                <a:solidFill>
                  <a:srgbClr val="000000"/>
                </a:solidFill>
                <a:latin typeface="DG Jory"/>
                <a:ea typeface="DG Jory"/>
                <a:cs typeface="DG Jory"/>
                <a:sym typeface="DG Jory"/>
              </a:rPr>
              <a:t>role : VARCHAR</a:t>
            </a:r>
          </a:p>
        </p:txBody>
      </p:sp>
      <p:sp>
        <p:nvSpPr>
          <p:cNvPr id="21" name="TextBox 21"/>
          <p:cNvSpPr txBox="1"/>
          <p:nvPr/>
        </p:nvSpPr>
        <p:spPr>
          <a:xfrm>
            <a:off x="7263835" y="6433547"/>
            <a:ext cx="4827372" cy="219698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id :INT, PRIMARY KEY</a:t>
            </a:r>
          </a:p>
          <a:p>
            <a:pPr marL="675648" lvl="1" indent="-337824" algn="l">
              <a:lnSpc>
                <a:spcPts val="4381"/>
              </a:lnSpc>
              <a:buFont typeface="Arial"/>
              <a:buChar char="•"/>
            </a:pPr>
            <a:r>
              <a:rPr lang="en-US" sz="3129">
                <a:solidFill>
                  <a:srgbClr val="000000"/>
                </a:solidFill>
                <a:latin typeface="DG Jory"/>
                <a:ea typeface="DG Jory"/>
                <a:cs typeface="DG Jory"/>
                <a:sym typeface="DG Jory"/>
              </a:rPr>
              <a:t>name : VARCHAR</a:t>
            </a:r>
          </a:p>
          <a:p>
            <a:pPr marL="675648" lvl="1" indent="-337824" algn="l">
              <a:lnSpc>
                <a:spcPts val="4381"/>
              </a:lnSpc>
              <a:buFont typeface="Arial"/>
              <a:buChar char="•"/>
            </a:pPr>
            <a:r>
              <a:rPr lang="en-US" sz="3129">
                <a:solidFill>
                  <a:srgbClr val="000000"/>
                </a:solidFill>
                <a:latin typeface="DG Jory"/>
                <a:ea typeface="DG Jory"/>
                <a:cs typeface="DG Jory"/>
                <a:sym typeface="DG Jory"/>
              </a:rPr>
              <a:t>department : VARCHAR</a:t>
            </a:r>
          </a:p>
          <a:p>
            <a:pPr marL="675648" lvl="1" indent="-337824" algn="l">
              <a:lnSpc>
                <a:spcPts val="4381"/>
              </a:lnSpc>
              <a:buFont typeface="Arial"/>
              <a:buChar char="•"/>
            </a:pPr>
            <a:r>
              <a:rPr lang="en-US" sz="3129">
                <a:solidFill>
                  <a:srgbClr val="000000"/>
                </a:solidFill>
                <a:latin typeface="DG Jory"/>
                <a:ea typeface="DG Jory"/>
                <a:cs typeface="DG Jory"/>
                <a:sym typeface="DG Jory"/>
              </a:rPr>
              <a:t>salary : INT</a:t>
            </a:r>
          </a:p>
        </p:txBody>
      </p:sp>
      <p:sp>
        <p:nvSpPr>
          <p:cNvPr id="22" name="TextBox 22"/>
          <p:cNvSpPr txBox="1"/>
          <p:nvPr/>
        </p:nvSpPr>
        <p:spPr>
          <a:xfrm>
            <a:off x="12091206" y="6433547"/>
            <a:ext cx="4827372" cy="219698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id :INT, PRIMARY KEY</a:t>
            </a:r>
          </a:p>
          <a:p>
            <a:pPr marL="675648" lvl="1" indent="-337824" algn="l">
              <a:lnSpc>
                <a:spcPts val="4381"/>
              </a:lnSpc>
              <a:buFont typeface="Arial"/>
              <a:buChar char="•"/>
            </a:pPr>
            <a:r>
              <a:rPr lang="en-US" sz="3129">
                <a:solidFill>
                  <a:srgbClr val="000000"/>
                </a:solidFill>
                <a:latin typeface="DG Jory"/>
                <a:ea typeface="DG Jory"/>
                <a:cs typeface="DG Jory"/>
                <a:sym typeface="DG Jory"/>
              </a:rPr>
              <a:t>employee_id: INT</a:t>
            </a:r>
          </a:p>
          <a:p>
            <a:pPr marL="675648" lvl="1" indent="-337824" algn="l">
              <a:lnSpc>
                <a:spcPts val="4381"/>
              </a:lnSpc>
              <a:buFont typeface="Arial"/>
              <a:buChar char="•"/>
            </a:pPr>
            <a:r>
              <a:rPr lang="en-US" sz="3129">
                <a:solidFill>
                  <a:srgbClr val="000000"/>
                </a:solidFill>
                <a:latin typeface="DG Jory"/>
                <a:ea typeface="DG Jory"/>
                <a:cs typeface="DG Jory"/>
                <a:sym typeface="DG Jory"/>
              </a:rPr>
              <a:t>date : DATE</a:t>
            </a:r>
          </a:p>
          <a:p>
            <a:pPr marL="675648" lvl="1" indent="-337824" algn="l">
              <a:lnSpc>
                <a:spcPts val="4381"/>
              </a:lnSpc>
              <a:buFont typeface="Arial"/>
              <a:buChar char="•"/>
            </a:pPr>
            <a:r>
              <a:rPr lang="en-US" sz="3129">
                <a:solidFill>
                  <a:srgbClr val="000000"/>
                </a:solidFill>
                <a:latin typeface="DG Jory"/>
                <a:ea typeface="DG Jory"/>
                <a:cs typeface="DG Jory"/>
                <a:sym typeface="DG Jory"/>
              </a:rPr>
              <a:t>status: VARCHAR</a:t>
            </a:r>
          </a:p>
        </p:txBody>
      </p:sp>
      <p:sp>
        <p:nvSpPr>
          <p:cNvPr id="23" name="TextBox 2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flipV="1">
            <a:off x="13082137" y="-495020"/>
            <a:ext cx="9287959" cy="8409825"/>
          </a:xfrm>
          <a:custGeom>
            <a:avLst/>
            <a:gdLst/>
            <a:ahLst/>
            <a:cxnLst/>
            <a:rect l="l" t="t" r="r" b="b"/>
            <a:pathLst>
              <a:path w="9287959" h="8409825">
                <a:moveTo>
                  <a:pt x="9287960" y="8409824"/>
                </a:moveTo>
                <a:lnTo>
                  <a:pt x="0" y="8409824"/>
                </a:lnTo>
                <a:lnTo>
                  <a:pt x="0" y="0"/>
                </a:lnTo>
                <a:lnTo>
                  <a:pt x="9287960" y="0"/>
                </a:lnTo>
                <a:lnTo>
                  <a:pt x="9287960" y="8409824"/>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4607933" y="8049787"/>
            <a:ext cx="7360133" cy="6664266"/>
          </a:xfrm>
          <a:custGeom>
            <a:avLst/>
            <a:gdLst/>
            <a:ahLst/>
            <a:cxnLst/>
            <a:rect l="l" t="t" r="r" b="b"/>
            <a:pathLst>
              <a:path w="7360133" h="6664266">
                <a:moveTo>
                  <a:pt x="0" y="0"/>
                </a:moveTo>
                <a:lnTo>
                  <a:pt x="7360134" y="0"/>
                </a:lnTo>
                <a:lnTo>
                  <a:pt x="7360134" y="6664267"/>
                </a:lnTo>
                <a:lnTo>
                  <a:pt x="0" y="6664267"/>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4" name="Freeform 4"/>
          <p:cNvSpPr/>
          <p:nvPr/>
        </p:nvSpPr>
        <p:spPr>
          <a:xfrm flipH="1">
            <a:off x="8303269" y="8738243"/>
            <a:ext cx="7360133" cy="6664266"/>
          </a:xfrm>
          <a:custGeom>
            <a:avLst/>
            <a:gdLst/>
            <a:ahLst/>
            <a:cxnLst/>
            <a:rect l="l" t="t" r="r" b="b"/>
            <a:pathLst>
              <a:path w="7360133" h="6664266">
                <a:moveTo>
                  <a:pt x="7360133" y="0"/>
                </a:moveTo>
                <a:lnTo>
                  <a:pt x="0" y="0"/>
                </a:lnTo>
                <a:lnTo>
                  <a:pt x="0" y="6664266"/>
                </a:lnTo>
                <a:lnTo>
                  <a:pt x="7360133" y="6664266"/>
                </a:lnTo>
                <a:lnTo>
                  <a:pt x="7360133"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TextBox 5"/>
          <p:cNvSpPr txBox="1"/>
          <p:nvPr/>
        </p:nvSpPr>
        <p:spPr>
          <a:xfrm>
            <a:off x="1028700" y="3917971"/>
            <a:ext cx="10964915" cy="274943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Role-based Access (Admin, HR, Employee)</a:t>
            </a:r>
          </a:p>
          <a:p>
            <a:pPr marL="675648" lvl="1" indent="-337824" algn="l">
              <a:lnSpc>
                <a:spcPts val="4381"/>
              </a:lnSpc>
              <a:buFont typeface="Arial"/>
              <a:buChar char="•"/>
            </a:pPr>
            <a:r>
              <a:rPr lang="en-US" sz="3129">
                <a:solidFill>
                  <a:srgbClr val="000000"/>
                </a:solidFill>
                <a:latin typeface="DG Jory"/>
                <a:ea typeface="DG Jory"/>
                <a:cs typeface="DG Jory"/>
                <a:sym typeface="DG Jory"/>
              </a:rPr>
              <a:t>Manage Employee Records</a:t>
            </a:r>
          </a:p>
          <a:p>
            <a:pPr marL="675648" lvl="1" indent="-337824" algn="l">
              <a:lnSpc>
                <a:spcPts val="4381"/>
              </a:lnSpc>
              <a:buFont typeface="Arial"/>
              <a:buChar char="•"/>
            </a:pPr>
            <a:r>
              <a:rPr lang="en-US" sz="3129">
                <a:solidFill>
                  <a:srgbClr val="000000"/>
                </a:solidFill>
                <a:latin typeface="DG Jory"/>
                <a:ea typeface="DG Jory"/>
                <a:cs typeface="DG Jory"/>
                <a:sym typeface="DG Jory"/>
              </a:rPr>
              <a:t>Mark and View Attendance</a:t>
            </a:r>
          </a:p>
          <a:p>
            <a:pPr marL="675648" lvl="1" indent="-337824" algn="l">
              <a:lnSpc>
                <a:spcPts val="4381"/>
              </a:lnSpc>
              <a:buFont typeface="Arial"/>
              <a:buChar char="•"/>
            </a:pPr>
            <a:r>
              <a:rPr lang="en-US" sz="3129">
                <a:solidFill>
                  <a:srgbClr val="000000"/>
                </a:solidFill>
                <a:latin typeface="DG Jory"/>
                <a:ea typeface="DG Jory"/>
                <a:cs typeface="DG Jory"/>
                <a:sym typeface="DG Jory"/>
              </a:rPr>
              <a:t>Salary Chart Visualization</a:t>
            </a:r>
          </a:p>
          <a:p>
            <a:pPr marL="675648" lvl="1" indent="-337824" algn="l">
              <a:lnSpc>
                <a:spcPts val="4381"/>
              </a:lnSpc>
              <a:buFont typeface="Arial"/>
              <a:buChar char="•"/>
            </a:pPr>
            <a:r>
              <a:rPr lang="en-US" sz="3129">
                <a:solidFill>
                  <a:srgbClr val="000000"/>
                </a:solidFill>
                <a:latin typeface="DG Jory"/>
                <a:ea typeface="DG Jory"/>
                <a:cs typeface="DG Jory"/>
                <a:sym typeface="DG Jory"/>
              </a:rPr>
              <a:t>Export Data to Excel and PDF</a:t>
            </a:r>
          </a:p>
        </p:txBody>
      </p:sp>
      <p:grpSp>
        <p:nvGrpSpPr>
          <p:cNvPr id="6" name="Group 6"/>
          <p:cNvGrpSpPr/>
          <p:nvPr/>
        </p:nvGrpSpPr>
        <p:grpSpPr>
          <a:xfrm>
            <a:off x="1202807" y="1621421"/>
            <a:ext cx="5994124" cy="1773322"/>
            <a:chOff x="0" y="0"/>
            <a:chExt cx="2747400" cy="812800"/>
          </a:xfrm>
        </p:grpSpPr>
        <p:sp>
          <p:nvSpPr>
            <p:cNvPr id="7" name="Freeform 7"/>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8" name="TextBox 8"/>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1344991" y="1763605"/>
            <a:ext cx="5994124" cy="1773322"/>
            <a:chOff x="0" y="0"/>
            <a:chExt cx="2747400" cy="812800"/>
          </a:xfrm>
        </p:grpSpPr>
        <p:sp>
          <p:nvSpPr>
            <p:cNvPr id="10" name="Freeform 10"/>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1" name="TextBox 11"/>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1311367" y="2133783"/>
            <a:ext cx="6027748" cy="748614"/>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FEATURES</a:t>
            </a:r>
          </a:p>
        </p:txBody>
      </p:sp>
      <p:sp>
        <p:nvSpPr>
          <p:cNvPr id="13" name="TextBox 13"/>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447602" y="3617553"/>
            <a:ext cx="5303996" cy="5263546"/>
            <a:chOff x="0" y="0"/>
            <a:chExt cx="1396937" cy="1386284"/>
          </a:xfrm>
        </p:grpSpPr>
        <p:sp>
          <p:nvSpPr>
            <p:cNvPr id="3" name="Freeform 3"/>
            <p:cNvSpPr/>
            <p:nvPr/>
          </p:nvSpPr>
          <p:spPr>
            <a:xfrm>
              <a:off x="0" y="0"/>
              <a:ext cx="1396937" cy="1386284"/>
            </a:xfrm>
            <a:custGeom>
              <a:avLst/>
              <a:gdLst/>
              <a:ahLst/>
              <a:cxnLst/>
              <a:rect l="l" t="t" r="r" b="b"/>
              <a:pathLst>
                <a:path w="1396937" h="1386284">
                  <a:moveTo>
                    <a:pt x="0" y="0"/>
                  </a:moveTo>
                  <a:lnTo>
                    <a:pt x="1396937" y="0"/>
                  </a:lnTo>
                  <a:lnTo>
                    <a:pt x="1396937" y="1386284"/>
                  </a:lnTo>
                  <a:lnTo>
                    <a:pt x="0" y="1386284"/>
                  </a:lnTo>
                  <a:close/>
                </a:path>
              </a:pathLst>
            </a:custGeom>
            <a:solidFill>
              <a:srgbClr val="000000">
                <a:alpha val="0"/>
              </a:srgbClr>
            </a:solidFill>
            <a:ln w="38100" cap="sq">
              <a:solidFill>
                <a:srgbClr val="9BDAE9">
                  <a:alpha val="49804"/>
                </a:srgbClr>
              </a:solidFill>
              <a:prstDash val="solid"/>
              <a:miter/>
            </a:ln>
          </p:spPr>
        </p:sp>
        <p:sp>
          <p:nvSpPr>
            <p:cNvPr id="4" name="TextBox 4"/>
            <p:cNvSpPr txBox="1"/>
            <p:nvPr/>
          </p:nvSpPr>
          <p:spPr>
            <a:xfrm>
              <a:off x="0" y="-47625"/>
              <a:ext cx="1396937" cy="1433909"/>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flipH="1" flipV="1">
            <a:off x="1460793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4757022" y="6029979"/>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8" name="Freeform 8"/>
          <p:cNvSpPr/>
          <p:nvPr/>
        </p:nvSpPr>
        <p:spPr>
          <a:xfrm flipH="1" flipV="1">
            <a:off x="-3530978" y="-2407245"/>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9" name="TextBox 9"/>
          <p:cNvSpPr txBox="1"/>
          <p:nvPr/>
        </p:nvSpPr>
        <p:spPr>
          <a:xfrm>
            <a:off x="1028700" y="3134516"/>
            <a:ext cx="4474224" cy="460375"/>
          </a:xfrm>
          <a:prstGeom prst="rect">
            <a:avLst/>
          </a:prstGeom>
        </p:spPr>
        <p:txBody>
          <a:bodyPr lIns="0" tIns="0" rIns="0" bIns="0" rtlCol="0" anchor="t">
            <a:spAutoFit/>
          </a:bodyPr>
          <a:lstStyle/>
          <a:p>
            <a:pPr algn="ctr">
              <a:lnSpc>
                <a:spcPts val="3500"/>
              </a:lnSpc>
            </a:pPr>
            <a:r>
              <a:rPr lang="en-US" sz="3500">
                <a:solidFill>
                  <a:srgbClr val="000000"/>
                </a:solidFill>
                <a:latin typeface="League Spartan"/>
                <a:ea typeface="League Spartan"/>
                <a:cs typeface="League Spartan"/>
                <a:sym typeface="League Spartan"/>
              </a:rPr>
              <a:t>METHOD :</a:t>
            </a:r>
          </a:p>
        </p:txBody>
      </p:sp>
      <p:sp>
        <p:nvSpPr>
          <p:cNvPr id="10" name="TextBox 10"/>
          <p:cNvSpPr txBox="1"/>
          <p:nvPr/>
        </p:nvSpPr>
        <p:spPr>
          <a:xfrm>
            <a:off x="1314462" y="3850425"/>
            <a:ext cx="8376924" cy="551168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Requirement Analysis</a:t>
            </a:r>
          </a:p>
          <a:p>
            <a:pPr marL="675648" lvl="1" indent="-337824" algn="l">
              <a:lnSpc>
                <a:spcPts val="4381"/>
              </a:lnSpc>
              <a:buFont typeface="Arial"/>
              <a:buChar char="•"/>
            </a:pPr>
            <a:r>
              <a:rPr lang="en-US" sz="3129">
                <a:solidFill>
                  <a:srgbClr val="000000"/>
                </a:solidFill>
                <a:latin typeface="DG Jory"/>
                <a:ea typeface="DG Jory"/>
                <a:cs typeface="DG Jory"/>
                <a:sym typeface="DG Jory"/>
              </a:rPr>
              <a:t>Identify key features: Login, Employee CRUD, Attendance, Salary Tracking, Reporting.</a:t>
            </a:r>
          </a:p>
          <a:p>
            <a:pPr marL="675648" lvl="1" indent="-337824" algn="l">
              <a:lnSpc>
                <a:spcPts val="4381"/>
              </a:lnSpc>
              <a:buFont typeface="Arial"/>
              <a:buChar char="•"/>
            </a:pPr>
            <a:r>
              <a:rPr lang="en-US" sz="3129">
                <a:solidFill>
                  <a:srgbClr val="000000"/>
                </a:solidFill>
                <a:latin typeface="DG Jory"/>
                <a:ea typeface="DG Jory"/>
                <a:cs typeface="DG Jory"/>
                <a:sym typeface="DG Jory"/>
              </a:rPr>
              <a:t>Database Design</a:t>
            </a:r>
          </a:p>
          <a:p>
            <a:pPr marL="675648" lvl="1" indent="-337824" algn="l">
              <a:lnSpc>
                <a:spcPts val="4381"/>
              </a:lnSpc>
              <a:buFont typeface="Arial"/>
              <a:buChar char="•"/>
            </a:pPr>
            <a:r>
              <a:rPr lang="en-US" sz="3129">
                <a:solidFill>
                  <a:srgbClr val="000000"/>
                </a:solidFill>
                <a:latin typeface="DG Jory"/>
                <a:ea typeface="DG Jory"/>
                <a:cs typeface="DG Jory"/>
                <a:sym typeface="DG Jory"/>
              </a:rPr>
              <a:t>Structured MySQL tables for Employees, Attendance, Salary.</a:t>
            </a:r>
          </a:p>
          <a:p>
            <a:pPr marL="675648" lvl="1" indent="-337824" algn="l">
              <a:lnSpc>
                <a:spcPts val="4381"/>
              </a:lnSpc>
              <a:buFont typeface="Arial"/>
              <a:buChar char="•"/>
            </a:pPr>
            <a:r>
              <a:rPr lang="en-US" sz="3129">
                <a:solidFill>
                  <a:srgbClr val="000000"/>
                </a:solidFill>
                <a:latin typeface="DG Jory"/>
                <a:ea typeface="DG Jory"/>
                <a:cs typeface="DG Jory"/>
                <a:sym typeface="DG Jory"/>
              </a:rPr>
              <a:t>Backend Development</a:t>
            </a:r>
          </a:p>
          <a:p>
            <a:pPr marL="675648" lvl="1" indent="-337824" algn="l">
              <a:lnSpc>
                <a:spcPts val="4381"/>
              </a:lnSpc>
              <a:buFont typeface="Arial"/>
              <a:buChar char="•"/>
            </a:pPr>
            <a:r>
              <a:rPr lang="en-US" sz="3129">
                <a:solidFill>
                  <a:srgbClr val="000000"/>
                </a:solidFill>
                <a:latin typeface="DG Jory"/>
                <a:ea typeface="DG Jory"/>
                <a:cs typeface="DG Jory"/>
                <a:sym typeface="DG Jory"/>
              </a:rPr>
              <a:t>Flask routes for handling login, adding employees, marking attendance, etc.</a:t>
            </a:r>
          </a:p>
          <a:p>
            <a:pPr algn="ctr">
              <a:lnSpc>
                <a:spcPts val="4381"/>
              </a:lnSpc>
            </a:pPr>
            <a:endParaRPr lang="en-US" sz="3129">
              <a:solidFill>
                <a:srgbClr val="000000"/>
              </a:solidFill>
              <a:latin typeface="DG Jory"/>
              <a:ea typeface="DG Jory"/>
              <a:cs typeface="DG Jory"/>
              <a:sym typeface="DG Jory"/>
            </a:endParaRPr>
          </a:p>
        </p:txBody>
      </p:sp>
      <p:sp>
        <p:nvSpPr>
          <p:cNvPr id="11" name="TextBox 11"/>
          <p:cNvSpPr txBox="1"/>
          <p:nvPr/>
        </p:nvSpPr>
        <p:spPr>
          <a:xfrm>
            <a:off x="9160812" y="3264664"/>
            <a:ext cx="6766479" cy="6064137"/>
          </a:xfrm>
          <a:prstGeom prst="rect">
            <a:avLst/>
          </a:prstGeom>
        </p:spPr>
        <p:txBody>
          <a:bodyPr lIns="0" tIns="0" rIns="0" bIns="0" rtlCol="0" anchor="t">
            <a:spAutoFit/>
          </a:bodyPr>
          <a:lstStyle/>
          <a:p>
            <a:pPr marL="675648" lvl="1" indent="-337824" algn="l">
              <a:lnSpc>
                <a:spcPts val="4381"/>
              </a:lnSpc>
              <a:buFont typeface="Arial"/>
              <a:buChar char="•"/>
            </a:pPr>
            <a:r>
              <a:rPr lang="en-US" sz="3129">
                <a:solidFill>
                  <a:srgbClr val="000000"/>
                </a:solidFill>
                <a:latin typeface="DG Jory"/>
                <a:ea typeface="DG Jory"/>
                <a:cs typeface="DG Jory"/>
                <a:sym typeface="DG Jory"/>
              </a:rPr>
              <a:t>Frontend Interface</a:t>
            </a:r>
          </a:p>
          <a:p>
            <a:pPr marL="675648" lvl="1" indent="-337824" algn="l">
              <a:lnSpc>
                <a:spcPts val="4381"/>
              </a:lnSpc>
              <a:buFont typeface="Arial"/>
              <a:buChar char="•"/>
            </a:pPr>
            <a:r>
              <a:rPr lang="en-US" sz="3129">
                <a:solidFill>
                  <a:srgbClr val="000000"/>
                </a:solidFill>
                <a:latin typeface="DG Jory"/>
                <a:ea typeface="DG Jory"/>
                <a:cs typeface="DG Jory"/>
                <a:sym typeface="DG Jory"/>
              </a:rPr>
              <a:t>HTML templates with Flask  .</a:t>
            </a:r>
          </a:p>
          <a:p>
            <a:pPr marL="675648" lvl="1" indent="-337824" algn="l">
              <a:lnSpc>
                <a:spcPts val="4381"/>
              </a:lnSpc>
              <a:buFont typeface="Arial"/>
              <a:buChar char="•"/>
            </a:pPr>
            <a:r>
              <a:rPr lang="en-US" sz="3129">
                <a:solidFill>
                  <a:srgbClr val="000000"/>
                </a:solidFill>
                <a:latin typeface="DG Jory"/>
                <a:ea typeface="DG Jory"/>
                <a:cs typeface="DG Jory"/>
                <a:sym typeface="DG Jory"/>
              </a:rPr>
              <a:t>Reporting Modules</a:t>
            </a:r>
          </a:p>
          <a:p>
            <a:pPr marL="675648" lvl="1" indent="-337824" algn="l">
              <a:lnSpc>
                <a:spcPts val="4381"/>
              </a:lnSpc>
              <a:buFont typeface="Arial"/>
              <a:buChar char="•"/>
            </a:pPr>
            <a:r>
              <a:rPr lang="en-US" sz="3129">
                <a:solidFill>
                  <a:srgbClr val="000000"/>
                </a:solidFill>
                <a:latin typeface="DG Jory"/>
                <a:ea typeface="DG Jory"/>
                <a:cs typeface="DG Jory"/>
                <a:sym typeface="DG Jory"/>
              </a:rPr>
              <a:t>Data analysis using Pandas &amp; visualizations with Matplotlib.</a:t>
            </a:r>
          </a:p>
          <a:p>
            <a:pPr marL="675648" lvl="1" indent="-337824" algn="l">
              <a:lnSpc>
                <a:spcPts val="4381"/>
              </a:lnSpc>
              <a:buFont typeface="Arial"/>
              <a:buChar char="•"/>
            </a:pPr>
            <a:r>
              <a:rPr lang="en-US" sz="3129">
                <a:solidFill>
                  <a:srgbClr val="000000"/>
                </a:solidFill>
                <a:latin typeface="DG Jory"/>
                <a:ea typeface="DG Jory"/>
                <a:cs typeface="DG Jory"/>
                <a:sym typeface="DG Jory"/>
              </a:rPr>
              <a:t>Report generation with ReportLab in PDF and Excel formats.</a:t>
            </a:r>
          </a:p>
          <a:p>
            <a:pPr marL="675648" lvl="1" indent="-337824" algn="l">
              <a:lnSpc>
                <a:spcPts val="4381"/>
              </a:lnSpc>
              <a:buFont typeface="Arial"/>
              <a:buChar char="•"/>
            </a:pPr>
            <a:r>
              <a:rPr lang="en-US" sz="3129">
                <a:solidFill>
                  <a:srgbClr val="000000"/>
                </a:solidFill>
                <a:latin typeface="DG Jory"/>
                <a:ea typeface="DG Jory"/>
                <a:cs typeface="DG Jory"/>
                <a:sym typeface="DG Jory"/>
              </a:rPr>
              <a:t>Testing and Debugging</a:t>
            </a:r>
          </a:p>
          <a:p>
            <a:pPr marL="675648" lvl="1" indent="-337824" algn="l">
              <a:lnSpc>
                <a:spcPts val="4381"/>
              </a:lnSpc>
              <a:buFont typeface="Arial"/>
              <a:buChar char="•"/>
            </a:pPr>
            <a:r>
              <a:rPr lang="en-US" sz="3129">
                <a:solidFill>
                  <a:srgbClr val="000000"/>
                </a:solidFill>
                <a:latin typeface="DG Jory"/>
                <a:ea typeface="DG Jory"/>
                <a:cs typeface="DG Jory"/>
                <a:sym typeface="DG Jory"/>
              </a:rPr>
              <a:t>Manual testing of all modules with sample employee data.</a:t>
            </a:r>
          </a:p>
          <a:p>
            <a:pPr algn="ctr">
              <a:lnSpc>
                <a:spcPts val="4381"/>
              </a:lnSpc>
            </a:pPr>
            <a:endParaRPr lang="en-US" sz="3129">
              <a:solidFill>
                <a:srgbClr val="000000"/>
              </a:solidFill>
              <a:latin typeface="DG Jory"/>
              <a:ea typeface="DG Jory"/>
              <a:cs typeface="DG Jory"/>
              <a:sym typeface="DG Jory"/>
            </a:endParaRPr>
          </a:p>
        </p:txBody>
      </p:sp>
      <p:grpSp>
        <p:nvGrpSpPr>
          <p:cNvPr id="12" name="Group 12"/>
          <p:cNvGrpSpPr/>
          <p:nvPr/>
        </p:nvGrpSpPr>
        <p:grpSpPr>
          <a:xfrm>
            <a:off x="6021566" y="1558017"/>
            <a:ext cx="5994124" cy="1773322"/>
            <a:chOff x="0" y="0"/>
            <a:chExt cx="2747400" cy="812800"/>
          </a:xfrm>
        </p:grpSpPr>
        <p:sp>
          <p:nvSpPr>
            <p:cNvPr id="13" name="Freeform 13"/>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14" name="TextBox 14"/>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6163750" y="1700201"/>
            <a:ext cx="5994124" cy="1773322"/>
            <a:chOff x="0" y="0"/>
            <a:chExt cx="2747400" cy="812800"/>
          </a:xfrm>
        </p:grpSpPr>
        <p:sp>
          <p:nvSpPr>
            <p:cNvPr id="16" name="Freeform 16"/>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7" name="TextBox 17"/>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6130126" y="2070379"/>
            <a:ext cx="6027748" cy="748598"/>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METHODOLOGY</a:t>
            </a:r>
          </a:p>
        </p:txBody>
      </p:sp>
      <p:sp>
        <p:nvSpPr>
          <p:cNvPr id="19" name="TextBox 19"/>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3530978" y="-2407245"/>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grpSp>
        <p:nvGrpSpPr>
          <p:cNvPr id="6" name="Group 6"/>
          <p:cNvGrpSpPr/>
          <p:nvPr/>
        </p:nvGrpSpPr>
        <p:grpSpPr>
          <a:xfrm>
            <a:off x="6021566" y="1325533"/>
            <a:ext cx="5994124" cy="1773322"/>
            <a:chOff x="0" y="0"/>
            <a:chExt cx="2747400" cy="812800"/>
          </a:xfrm>
        </p:grpSpPr>
        <p:sp>
          <p:nvSpPr>
            <p:cNvPr id="7" name="Freeform 7"/>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8" name="TextBox 8"/>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6163750" y="1467717"/>
            <a:ext cx="5994124" cy="1773322"/>
            <a:chOff x="0" y="0"/>
            <a:chExt cx="2747400" cy="812800"/>
          </a:xfrm>
        </p:grpSpPr>
        <p:sp>
          <p:nvSpPr>
            <p:cNvPr id="10" name="Freeform 10"/>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1" name="TextBox 11"/>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2" name="TextBox 12"/>
          <p:cNvSpPr txBox="1"/>
          <p:nvPr/>
        </p:nvSpPr>
        <p:spPr>
          <a:xfrm>
            <a:off x="6130126" y="1837895"/>
            <a:ext cx="6027748" cy="748614"/>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DATA ANALYSIS</a:t>
            </a:r>
          </a:p>
        </p:txBody>
      </p:sp>
      <p:sp>
        <p:nvSpPr>
          <p:cNvPr id="13" name="TextBox 13"/>
          <p:cNvSpPr txBox="1"/>
          <p:nvPr/>
        </p:nvSpPr>
        <p:spPr>
          <a:xfrm>
            <a:off x="1574724" y="3270866"/>
            <a:ext cx="16230600" cy="986155"/>
          </a:xfrm>
          <a:prstGeom prst="rect">
            <a:avLst/>
          </a:prstGeom>
        </p:spPr>
        <p:txBody>
          <a:bodyPr lIns="0" tIns="0" rIns="0" bIns="0" rtlCol="0" anchor="t">
            <a:spAutoFit/>
          </a:bodyPr>
          <a:lstStyle/>
          <a:p>
            <a:pPr algn="l">
              <a:lnSpc>
                <a:spcPts val="3919"/>
              </a:lnSpc>
              <a:spcBef>
                <a:spcPct val="0"/>
              </a:spcBef>
            </a:pPr>
            <a:r>
              <a:rPr lang="en-US" sz="2799">
                <a:solidFill>
                  <a:srgbClr val="000000"/>
                </a:solidFill>
                <a:latin typeface="DG Jory"/>
                <a:ea typeface="DG Jory"/>
                <a:cs typeface="DG Jory"/>
                <a:sym typeface="DG Jory"/>
              </a:rPr>
              <a:t>Data analytics in this project involves analyzing employee-related data (like attendance and salary) to extract useful insights, improve HR decisions, and visualize trends for better management.</a:t>
            </a:r>
          </a:p>
        </p:txBody>
      </p:sp>
      <p:sp>
        <p:nvSpPr>
          <p:cNvPr id="14" name="TextBox 14"/>
          <p:cNvSpPr txBox="1"/>
          <p:nvPr/>
        </p:nvSpPr>
        <p:spPr>
          <a:xfrm>
            <a:off x="1970145" y="4833793"/>
            <a:ext cx="4261098" cy="490856"/>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DG Jory Bold"/>
                <a:ea typeface="DG Jory Bold"/>
                <a:cs typeface="DG Jory Bold"/>
                <a:sym typeface="DG Jory Bold"/>
              </a:rPr>
              <a:t>How It's Applied in our Project:</a:t>
            </a:r>
          </a:p>
        </p:txBody>
      </p:sp>
      <p:sp>
        <p:nvSpPr>
          <p:cNvPr id="15" name="TextBox 15"/>
          <p:cNvSpPr txBox="1"/>
          <p:nvPr/>
        </p:nvSpPr>
        <p:spPr>
          <a:xfrm>
            <a:off x="3120104" y="5615478"/>
            <a:ext cx="9483012" cy="3506470"/>
          </a:xfrm>
          <a:prstGeom prst="rect">
            <a:avLst/>
          </a:prstGeom>
        </p:spPr>
        <p:txBody>
          <a:bodyPr lIns="0" tIns="0" rIns="0" bIns="0" rtlCol="0" anchor="t">
            <a:spAutoFit/>
          </a:bodyPr>
          <a:lstStyle/>
          <a:p>
            <a:pPr algn="l">
              <a:lnSpc>
                <a:spcPts val="3079"/>
              </a:lnSpc>
              <a:spcBef>
                <a:spcPct val="0"/>
              </a:spcBef>
            </a:pPr>
            <a:r>
              <a:rPr lang="en-US" sz="2199" b="1">
                <a:solidFill>
                  <a:srgbClr val="000000"/>
                </a:solidFill>
                <a:latin typeface="DG Jory Bold"/>
                <a:ea typeface="DG Jory Bold"/>
                <a:cs typeface="DG Jory Bold"/>
                <a:sym typeface="DG Jory Bold"/>
              </a:rPr>
              <a:t>1. Attendance Analytics</a:t>
            </a:r>
          </a:p>
          <a:p>
            <a:pPr algn="l">
              <a:lnSpc>
                <a:spcPts val="3079"/>
              </a:lnSpc>
              <a:spcBef>
                <a:spcPct val="0"/>
              </a:spcBef>
            </a:pPr>
            <a:r>
              <a:rPr lang="en-US" sz="2199">
                <a:solidFill>
                  <a:srgbClr val="000000"/>
                </a:solidFill>
                <a:latin typeface="DG Jory"/>
                <a:ea typeface="DG Jory"/>
                <a:cs typeface="DG Jory"/>
                <a:sym typeface="DG Jory"/>
              </a:rPr>
              <a:t>Track attendance trends to identify frequent absentees.</a:t>
            </a:r>
          </a:p>
          <a:p>
            <a:pPr algn="l">
              <a:lnSpc>
                <a:spcPts val="3079"/>
              </a:lnSpc>
              <a:spcBef>
                <a:spcPct val="0"/>
              </a:spcBef>
            </a:pPr>
            <a:r>
              <a:rPr lang="en-US" sz="2199">
                <a:solidFill>
                  <a:srgbClr val="000000"/>
                </a:solidFill>
                <a:latin typeface="DG Jory"/>
                <a:ea typeface="DG Jory"/>
                <a:cs typeface="DG Jory"/>
                <a:sym typeface="DG Jory"/>
              </a:rPr>
              <a:t>Analyze punctuality to improve workforce discipline.</a:t>
            </a:r>
          </a:p>
          <a:p>
            <a:pPr algn="l">
              <a:lnSpc>
                <a:spcPts val="3079"/>
              </a:lnSpc>
              <a:spcBef>
                <a:spcPct val="0"/>
              </a:spcBef>
            </a:pPr>
            <a:r>
              <a:rPr lang="en-US" sz="2199" b="1">
                <a:solidFill>
                  <a:srgbClr val="000000"/>
                </a:solidFill>
                <a:latin typeface="DG Jory Bold"/>
                <a:ea typeface="DG Jory Bold"/>
                <a:cs typeface="DG Jory Bold"/>
                <a:sym typeface="DG Jory Bold"/>
              </a:rPr>
              <a:t>2. Salary Analytics</a:t>
            </a:r>
          </a:p>
          <a:p>
            <a:pPr algn="l">
              <a:lnSpc>
                <a:spcPts val="3079"/>
              </a:lnSpc>
              <a:spcBef>
                <a:spcPct val="0"/>
              </a:spcBef>
            </a:pPr>
            <a:r>
              <a:rPr lang="en-US" sz="2199">
                <a:solidFill>
                  <a:srgbClr val="000000"/>
                </a:solidFill>
                <a:latin typeface="DG Jory"/>
                <a:ea typeface="DG Jory"/>
                <a:cs typeface="DG Jory"/>
                <a:sym typeface="DG Jory"/>
              </a:rPr>
              <a:t>Visualize salary distribution across departments.</a:t>
            </a:r>
          </a:p>
          <a:p>
            <a:pPr algn="l">
              <a:lnSpc>
                <a:spcPts val="3079"/>
              </a:lnSpc>
              <a:spcBef>
                <a:spcPct val="0"/>
              </a:spcBef>
            </a:pPr>
            <a:r>
              <a:rPr lang="en-US" sz="2199">
                <a:solidFill>
                  <a:srgbClr val="000000"/>
                </a:solidFill>
                <a:latin typeface="DG Jory"/>
                <a:ea typeface="DG Jory"/>
                <a:cs typeface="DG Jory"/>
                <a:sym typeface="DG Jory"/>
              </a:rPr>
              <a:t>Identify top earners and average salary insights.</a:t>
            </a:r>
          </a:p>
          <a:p>
            <a:pPr algn="l">
              <a:lnSpc>
                <a:spcPts val="3079"/>
              </a:lnSpc>
              <a:spcBef>
                <a:spcPct val="0"/>
              </a:spcBef>
            </a:pPr>
            <a:r>
              <a:rPr lang="en-US" sz="2199" b="1">
                <a:solidFill>
                  <a:srgbClr val="000000"/>
                </a:solidFill>
                <a:latin typeface="DG Jory Bold"/>
                <a:ea typeface="DG Jory Bold"/>
                <a:cs typeface="DG Jory Bold"/>
                <a:sym typeface="DG Jory Bold"/>
              </a:rPr>
              <a:t>3. Reports &amp; Export</a:t>
            </a:r>
          </a:p>
          <a:p>
            <a:pPr algn="l">
              <a:lnSpc>
                <a:spcPts val="3079"/>
              </a:lnSpc>
              <a:spcBef>
                <a:spcPct val="0"/>
              </a:spcBef>
            </a:pPr>
            <a:r>
              <a:rPr lang="en-US" sz="2199">
                <a:solidFill>
                  <a:srgbClr val="000000"/>
                </a:solidFill>
                <a:latin typeface="DG Jory"/>
                <a:ea typeface="DG Jory"/>
                <a:cs typeface="DG Jory"/>
                <a:sym typeface="DG Jory"/>
              </a:rPr>
              <a:t>Generate detailed employee reports in PDF using Reportlab.</a:t>
            </a:r>
          </a:p>
          <a:p>
            <a:pPr algn="l">
              <a:lnSpc>
                <a:spcPts val="3079"/>
              </a:lnSpc>
              <a:spcBef>
                <a:spcPct val="0"/>
              </a:spcBef>
            </a:pPr>
            <a:r>
              <a:rPr lang="en-US" sz="2199">
                <a:solidFill>
                  <a:srgbClr val="000000"/>
                </a:solidFill>
                <a:latin typeface="DG Jory"/>
                <a:ea typeface="DG Jory"/>
                <a:cs typeface="DG Jory"/>
                <a:sym typeface="DG Jory"/>
              </a:rPr>
              <a:t>Export attendance/salary data to Excel using Pandas for analysis.</a:t>
            </a:r>
          </a:p>
        </p:txBody>
      </p:sp>
      <p:sp>
        <p:nvSpPr>
          <p:cNvPr id="16" name="TextBox 16"/>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3530978" y="-2407245"/>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TextBox 6"/>
          <p:cNvSpPr txBox="1"/>
          <p:nvPr/>
        </p:nvSpPr>
        <p:spPr>
          <a:xfrm>
            <a:off x="4201283" y="4565674"/>
            <a:ext cx="10406650" cy="3301887"/>
          </a:xfrm>
          <a:prstGeom prst="rect">
            <a:avLst/>
          </a:prstGeom>
        </p:spPr>
        <p:txBody>
          <a:bodyPr lIns="0" tIns="0" rIns="0" bIns="0" rtlCol="0" anchor="t">
            <a:spAutoFit/>
          </a:bodyPr>
          <a:lstStyle/>
          <a:p>
            <a:pPr algn="ctr">
              <a:lnSpc>
                <a:spcPts val="4381"/>
              </a:lnSpc>
            </a:pPr>
            <a:r>
              <a:rPr lang="en-US" sz="3129">
                <a:solidFill>
                  <a:srgbClr val="000000"/>
                </a:solidFill>
                <a:latin typeface="DG Jory"/>
                <a:ea typeface="DG Jory"/>
                <a:cs typeface="DG Jory"/>
                <a:sym typeface="DG Jory"/>
              </a:rPr>
              <a:t>The Employee Management System not only streamlines employee data handling but also leverages data analytics to enhance decision-making. By analyzing attendance and salary data through visual charts and exportable reports, the system empowers HR and management with clear, actionable insights—making workforce management more efficient and data-driven.</a:t>
            </a:r>
          </a:p>
        </p:txBody>
      </p:sp>
      <p:grpSp>
        <p:nvGrpSpPr>
          <p:cNvPr id="7" name="Group 7"/>
          <p:cNvGrpSpPr/>
          <p:nvPr/>
        </p:nvGrpSpPr>
        <p:grpSpPr>
          <a:xfrm>
            <a:off x="6021566" y="1558017"/>
            <a:ext cx="5994124" cy="1773322"/>
            <a:chOff x="0" y="0"/>
            <a:chExt cx="2747400" cy="812800"/>
          </a:xfrm>
        </p:grpSpPr>
        <p:sp>
          <p:nvSpPr>
            <p:cNvPr id="8" name="Freeform 8"/>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id="9" name="TextBox 9"/>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6163750" y="1700201"/>
            <a:ext cx="5994124" cy="1773322"/>
            <a:chOff x="0" y="0"/>
            <a:chExt cx="2747400" cy="812800"/>
          </a:xfrm>
        </p:grpSpPr>
        <p:sp>
          <p:nvSpPr>
            <p:cNvPr id="11" name="Freeform 11"/>
            <p:cNvSpPr/>
            <p:nvPr/>
          </p:nvSpPr>
          <p:spPr>
            <a:xfrm>
              <a:off x="0" y="0"/>
              <a:ext cx="2747400" cy="812800"/>
            </a:xfrm>
            <a:custGeom>
              <a:avLst/>
              <a:gdLst/>
              <a:ahLst/>
              <a:cxnLst/>
              <a:rect l="l" t="t" r="r" b="b"/>
              <a:pathLst>
                <a:path w="2747400" h="8128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000000">
                <a:alpha val="0"/>
              </a:srgbClr>
            </a:solidFill>
            <a:ln w="66675" cap="sq">
              <a:solidFill>
                <a:srgbClr val="56C3D0"/>
              </a:solidFill>
              <a:prstDash val="solid"/>
              <a:miter/>
            </a:ln>
          </p:spPr>
        </p:sp>
        <p:sp>
          <p:nvSpPr>
            <p:cNvPr id="12" name="TextBox 12"/>
            <p:cNvSpPr txBox="1"/>
            <p:nvPr/>
          </p:nvSpPr>
          <p:spPr>
            <a:xfrm>
              <a:off x="0" y="-47625"/>
              <a:ext cx="2747400" cy="669925"/>
            </a:xfrm>
            <a:prstGeom prst="rect">
              <a:avLst/>
            </a:prstGeom>
          </p:spPr>
          <p:txBody>
            <a:bodyPr lIns="50800" tIns="50800" rIns="50800" bIns="50800" rtlCol="0" anchor="ctr"/>
            <a:lstStyle/>
            <a:p>
              <a:pPr algn="ctr">
                <a:lnSpc>
                  <a:spcPts val="2659"/>
                </a:lnSpc>
              </a:pPr>
              <a:endParaRPr/>
            </a:p>
          </p:txBody>
        </p:sp>
      </p:grpSp>
      <p:sp>
        <p:nvSpPr>
          <p:cNvPr id="13" name="TextBox 13"/>
          <p:cNvSpPr txBox="1"/>
          <p:nvPr/>
        </p:nvSpPr>
        <p:spPr>
          <a:xfrm>
            <a:off x="6130126" y="2070379"/>
            <a:ext cx="6027748" cy="748598"/>
          </a:xfrm>
          <a:prstGeom prst="rect">
            <a:avLst/>
          </a:prstGeom>
        </p:spPr>
        <p:txBody>
          <a:bodyPr lIns="0" tIns="0" rIns="0" bIns="0" rtlCol="0" anchor="t">
            <a:spAutoFit/>
          </a:bodyPr>
          <a:lstStyle/>
          <a:p>
            <a:pPr algn="ctr">
              <a:lnSpc>
                <a:spcPts val="5917"/>
              </a:lnSpc>
            </a:pPr>
            <a:r>
              <a:rPr lang="en-US" sz="4930">
                <a:solidFill>
                  <a:srgbClr val="000000"/>
                </a:solidFill>
                <a:latin typeface="League Spartan"/>
                <a:ea typeface="League Spartan"/>
                <a:cs typeface="League Spartan"/>
                <a:sym typeface="League Spartan"/>
              </a:rPr>
              <a:t>CONCLUSION</a:t>
            </a:r>
          </a:p>
        </p:txBody>
      </p:sp>
      <p:sp>
        <p:nvSpPr>
          <p:cNvPr id="14" name="TextBox 14"/>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680067" y="4897467"/>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flipH="1" flipV="1">
            <a:off x="14607933" y="-1261755"/>
            <a:ext cx="7360133" cy="6664266"/>
          </a:xfrm>
          <a:custGeom>
            <a:avLst/>
            <a:gdLst/>
            <a:ahLst/>
            <a:cxnLst/>
            <a:rect l="l" t="t" r="r" b="b"/>
            <a:pathLst>
              <a:path w="7360133" h="6664266">
                <a:moveTo>
                  <a:pt x="7360134" y="6664267"/>
                </a:moveTo>
                <a:lnTo>
                  <a:pt x="0" y="6664267"/>
                </a:lnTo>
                <a:lnTo>
                  <a:pt x="0" y="0"/>
                </a:lnTo>
                <a:lnTo>
                  <a:pt x="7360134" y="0"/>
                </a:lnTo>
                <a:lnTo>
                  <a:pt x="7360134" y="6664267"/>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4757022" y="6029979"/>
            <a:ext cx="7360133" cy="6664266"/>
          </a:xfrm>
          <a:custGeom>
            <a:avLst/>
            <a:gdLst/>
            <a:ahLst/>
            <a:cxnLst/>
            <a:rect l="l" t="t" r="r" b="b"/>
            <a:pathLst>
              <a:path w="7360133" h="6664266">
                <a:moveTo>
                  <a:pt x="0" y="0"/>
                </a:moveTo>
                <a:lnTo>
                  <a:pt x="7360134" y="0"/>
                </a:lnTo>
                <a:lnTo>
                  <a:pt x="7360134" y="6664266"/>
                </a:lnTo>
                <a:lnTo>
                  <a:pt x="0" y="6664266"/>
                </a:lnTo>
                <a:lnTo>
                  <a:pt x="0" y="0"/>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5" name="Freeform 5"/>
          <p:cNvSpPr/>
          <p:nvPr/>
        </p:nvSpPr>
        <p:spPr>
          <a:xfrm flipH="1" flipV="1">
            <a:off x="-3530978" y="-2407245"/>
            <a:ext cx="7360133" cy="6664266"/>
          </a:xfrm>
          <a:custGeom>
            <a:avLst/>
            <a:gdLst/>
            <a:ahLst/>
            <a:cxnLst/>
            <a:rect l="l" t="t" r="r" b="b"/>
            <a:pathLst>
              <a:path w="7360133" h="6664266">
                <a:moveTo>
                  <a:pt x="7360134" y="6664266"/>
                </a:moveTo>
                <a:lnTo>
                  <a:pt x="0" y="6664266"/>
                </a:lnTo>
                <a:lnTo>
                  <a:pt x="0" y="0"/>
                </a:lnTo>
                <a:lnTo>
                  <a:pt x="7360134" y="0"/>
                </a:lnTo>
                <a:lnTo>
                  <a:pt x="7360134" y="6664266"/>
                </a:lnTo>
                <a:close/>
              </a:path>
            </a:pathLst>
          </a:custGeom>
          <a:blipFill>
            <a:blip>
              <a:extLst>
                <a:ext uri="{96DAC541-7B7A-43D3-8B79-37D633B846F1}">
                  <asvg:svgBlip xmlns:asvg="http://schemas.microsoft.com/office/drawing/2016/SVG/main" r:embed="rId2"/>
                </a:ext>
              </a:extLst>
            </a:blip>
            <a:stretch>
              <a:fillRect/>
            </a:stretch>
          </a:blipFill>
          <a:ln cap="sq">
            <a:noFill/>
            <a:prstDash val="solid"/>
            <a:miter/>
          </a:ln>
        </p:spPr>
      </p:sp>
      <p:sp>
        <p:nvSpPr>
          <p:cNvPr id="6" name="TextBox 6"/>
          <p:cNvSpPr txBox="1"/>
          <p:nvPr/>
        </p:nvSpPr>
        <p:spPr>
          <a:xfrm>
            <a:off x="4751838" y="4153209"/>
            <a:ext cx="8784324" cy="1261467"/>
          </a:xfrm>
          <a:prstGeom prst="rect">
            <a:avLst/>
          </a:prstGeom>
        </p:spPr>
        <p:txBody>
          <a:bodyPr lIns="0" tIns="0" rIns="0" bIns="0" rtlCol="0" anchor="t">
            <a:spAutoFit/>
          </a:bodyPr>
          <a:lstStyle/>
          <a:p>
            <a:pPr marL="0" lvl="0" indent="0" algn="ctr">
              <a:lnSpc>
                <a:spcPts val="10012"/>
              </a:lnSpc>
              <a:spcBef>
                <a:spcPct val="0"/>
              </a:spcBef>
            </a:pPr>
            <a:r>
              <a:rPr lang="en-US" sz="8344" b="1" u="none" strike="noStrike">
                <a:solidFill>
                  <a:srgbClr val="000000"/>
                </a:solidFill>
                <a:latin typeface="League Spartan"/>
                <a:ea typeface="League Spartan"/>
                <a:cs typeface="League Spartan"/>
                <a:sym typeface="League Spartan"/>
              </a:rPr>
              <a:t>THANK YOU!!</a:t>
            </a:r>
          </a:p>
        </p:txBody>
      </p:sp>
      <p:sp>
        <p:nvSpPr>
          <p:cNvPr id="7" name="TextBox 7"/>
          <p:cNvSpPr txBox="1"/>
          <p:nvPr/>
        </p:nvSpPr>
        <p:spPr>
          <a:xfrm>
            <a:off x="17259300" y="9210675"/>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608</Words>
  <Application>Microsoft Office PowerPoint</Application>
  <PresentationFormat>Custom</PresentationFormat>
  <Paragraphs>88</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Canva Sans</vt:lpstr>
      <vt:lpstr>Calibri</vt:lpstr>
      <vt:lpstr>DG Jory Bold</vt:lpstr>
      <vt:lpstr>DG Jory</vt:lpstr>
      <vt:lpstr>Arial</vt:lpstr>
      <vt:lpstr>Canva Sans Bold</vt:lpstr>
      <vt:lpstr>League Spartan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Minimalist Project Presentation</dc:title>
  <cp:lastModifiedBy>Kota Reddy Jeswitha</cp:lastModifiedBy>
  <cp:revision>2</cp:revision>
  <dcterms:created xsi:type="dcterms:W3CDTF">2006-08-16T00:00:00Z</dcterms:created>
  <dcterms:modified xsi:type="dcterms:W3CDTF">2026-04-19T02:20:07Z</dcterms:modified>
  <dc:identifier>DAGlQtKTiAM</dc:identifier>
</cp:coreProperties>
</file>